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" charset="1" panose="020F050202020403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onsolas" charset="1" panose="020B0609020204030204"/>
      <p:regular r:id="rId21"/>
    </p:embeddedFont>
    <p:embeddedFont>
      <p:font typeface="Consolas Bold" charset="1" panose="020B0709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154663" y="-927097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00897B">
                <a:alpha val="196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00897B">
                <a:alpha val="1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51943" y="5107943"/>
            <a:ext cx="5146043" cy="5146043"/>
            <a:chOff x="0" y="0"/>
            <a:chExt cx="6861391" cy="6861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68275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827520">
                  <a:moveTo>
                    <a:pt x="0" y="3413760"/>
                  </a:moveTo>
                  <a:cubicBezTo>
                    <a:pt x="0" y="1528445"/>
                    <a:pt x="1528445" y="0"/>
                    <a:pt x="3413760" y="0"/>
                  </a:cubicBezTo>
                  <a:cubicBezTo>
                    <a:pt x="5299075" y="0"/>
                    <a:pt x="6827520" y="1528445"/>
                    <a:pt x="6827520" y="3413760"/>
                  </a:cubicBezTo>
                  <a:cubicBezTo>
                    <a:pt x="6827520" y="5299075"/>
                    <a:pt x="5299075" y="6827520"/>
                    <a:pt x="3413760" y="6827520"/>
                  </a:cubicBezTo>
                  <a:cubicBezTo>
                    <a:pt x="1528445" y="6827520"/>
                    <a:pt x="0" y="5299202"/>
                    <a:pt x="0" y="3413760"/>
                  </a:cubicBezTo>
                  <a:close/>
                </a:path>
              </a:pathLst>
            </a:custGeom>
            <a:solidFill>
              <a:srgbClr val="00BCD4">
                <a:alpha val="117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61429" cy="6861302"/>
            </a:xfrm>
            <a:custGeom>
              <a:avLst/>
              <a:gdLst/>
              <a:ahLst/>
              <a:cxnLst/>
              <a:rect r="r" b="b" t="t" l="l"/>
              <a:pathLst>
                <a:path h="6861302" w="6861429">
                  <a:moveTo>
                    <a:pt x="0" y="3430651"/>
                  </a:moveTo>
                  <a:cubicBezTo>
                    <a:pt x="0" y="1535938"/>
                    <a:pt x="1535938" y="0"/>
                    <a:pt x="3430651" y="0"/>
                  </a:cubicBezTo>
                  <a:lnTo>
                    <a:pt x="3430651" y="16891"/>
                  </a:lnTo>
                  <a:lnTo>
                    <a:pt x="3430651" y="0"/>
                  </a:lnTo>
                  <a:cubicBezTo>
                    <a:pt x="5325364" y="0"/>
                    <a:pt x="6861429" y="1535938"/>
                    <a:pt x="6861429" y="3430651"/>
                  </a:cubicBezTo>
                  <a:cubicBezTo>
                    <a:pt x="6861429" y="5325364"/>
                    <a:pt x="5325491" y="6861302"/>
                    <a:pt x="3430778" y="6861302"/>
                  </a:cubicBezTo>
                  <a:lnTo>
                    <a:pt x="3430778" y="6844411"/>
                  </a:lnTo>
                  <a:lnTo>
                    <a:pt x="3430778" y="6861302"/>
                  </a:lnTo>
                  <a:cubicBezTo>
                    <a:pt x="1535938" y="6861429"/>
                    <a:pt x="0" y="5325364"/>
                    <a:pt x="0" y="3430651"/>
                  </a:cubicBezTo>
                  <a:lnTo>
                    <a:pt x="16891" y="3430651"/>
                  </a:lnTo>
                  <a:lnTo>
                    <a:pt x="31115" y="3439795"/>
                  </a:lnTo>
                  <a:cubicBezTo>
                    <a:pt x="27051" y="3446145"/>
                    <a:pt x="19304" y="3449066"/>
                    <a:pt x="12065" y="3446907"/>
                  </a:cubicBezTo>
                  <a:cubicBezTo>
                    <a:pt x="4826" y="3444748"/>
                    <a:pt x="0" y="3438271"/>
                    <a:pt x="0" y="3430651"/>
                  </a:cubicBezTo>
                  <a:moveTo>
                    <a:pt x="33909" y="3430651"/>
                  </a:moveTo>
                  <a:lnTo>
                    <a:pt x="16891" y="3430651"/>
                  </a:lnTo>
                  <a:lnTo>
                    <a:pt x="2667" y="3421507"/>
                  </a:lnTo>
                  <a:cubicBezTo>
                    <a:pt x="6731" y="3415157"/>
                    <a:pt x="14478" y="3412236"/>
                    <a:pt x="21717" y="3414395"/>
                  </a:cubicBezTo>
                  <a:cubicBezTo>
                    <a:pt x="28956" y="3416554"/>
                    <a:pt x="33909" y="3423158"/>
                    <a:pt x="33909" y="3430651"/>
                  </a:cubicBezTo>
                  <a:cubicBezTo>
                    <a:pt x="33909" y="5306695"/>
                    <a:pt x="1554734" y="6827520"/>
                    <a:pt x="3430778" y="6827520"/>
                  </a:cubicBezTo>
                  <a:cubicBezTo>
                    <a:pt x="5306822" y="6827520"/>
                    <a:pt x="6827647" y="5306695"/>
                    <a:pt x="6827647" y="3430651"/>
                  </a:cubicBezTo>
                  <a:lnTo>
                    <a:pt x="6844538" y="3430651"/>
                  </a:lnTo>
                  <a:lnTo>
                    <a:pt x="6827647" y="3430651"/>
                  </a:lnTo>
                  <a:cubicBezTo>
                    <a:pt x="6827520" y="1554734"/>
                    <a:pt x="5306695" y="33909"/>
                    <a:pt x="3430651" y="33909"/>
                  </a:cubicBezTo>
                  <a:lnTo>
                    <a:pt x="3430651" y="16891"/>
                  </a:lnTo>
                  <a:lnTo>
                    <a:pt x="3430651" y="33909"/>
                  </a:lnTo>
                  <a:cubicBezTo>
                    <a:pt x="1554734" y="33909"/>
                    <a:pt x="33909" y="1554734"/>
                    <a:pt x="33909" y="3430651"/>
                  </a:cubicBezTo>
                  <a:close/>
                </a:path>
              </a:pathLst>
            </a:custGeom>
            <a:solidFill>
              <a:srgbClr val="00BCD4">
                <a:alpha val="862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1280160"/>
            <a:ext cx="16459200" cy="1097280"/>
            <a:chOff x="0" y="0"/>
            <a:chExt cx="219456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26A6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 to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2194560"/>
            <a:ext cx="16459200" cy="1828800"/>
            <a:chOff x="0" y="0"/>
            <a:chExt cx="2194560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19075"/>
              <a:ext cx="21945600" cy="2657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 &amp;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080" y="3840480"/>
            <a:ext cx="16459200" cy="1828800"/>
            <a:chOff x="0" y="0"/>
            <a:chExt cx="21945600" cy="2438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19075"/>
              <a:ext cx="21945600" cy="2657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0089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CRUD Operations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5839463"/>
            <a:ext cx="10083803" cy="116843"/>
            <a:chOff x="0" y="0"/>
            <a:chExt cx="13445071" cy="1557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3411199" cy="121920"/>
            </a:xfrm>
            <a:custGeom>
              <a:avLst/>
              <a:gdLst/>
              <a:ahLst/>
              <a:cxnLst/>
              <a:rect r="r" b="b" t="t" l="l"/>
              <a:pathLst>
                <a:path h="121920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44982" cy="155704"/>
            </a:xfrm>
            <a:custGeom>
              <a:avLst/>
              <a:gdLst/>
              <a:ahLst/>
              <a:cxnLst/>
              <a:rect r="r" b="b" t="t" l="l"/>
              <a:pathLst>
                <a:path h="155704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138811"/>
                  </a:lnTo>
                  <a:cubicBezTo>
                    <a:pt x="13444982" y="148209"/>
                    <a:pt x="13437363" y="155702"/>
                    <a:pt x="13428090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3428090" y="121920"/>
                  </a:lnTo>
                  <a:lnTo>
                    <a:pt x="13428090" y="138811"/>
                  </a:lnTo>
                  <a:lnTo>
                    <a:pt x="13411200" y="138811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27383" y="6296663"/>
            <a:ext cx="3865883" cy="939803"/>
            <a:chOff x="0" y="0"/>
            <a:chExt cx="5154511" cy="1253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897B">
                <a:alpha val="5882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>
                <a:alpha val="24706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0080" y="6309360"/>
            <a:ext cx="3840480" cy="914400"/>
            <a:chOff x="0" y="0"/>
            <a:chExt cx="512064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1206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Basics of Data &amp; Databases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33623" y="6296663"/>
            <a:ext cx="3865883" cy="939803"/>
            <a:chOff x="0" y="0"/>
            <a:chExt cx="5154511" cy="12530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897B">
                <a:alpha val="5882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>
                <a:alpha val="24706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846320" y="6309360"/>
            <a:ext cx="3840480" cy="914400"/>
            <a:chOff x="0" y="0"/>
            <a:chExt cx="512064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1206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MongoDB (NoSQL)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39863" y="6296663"/>
            <a:ext cx="3865883" cy="939803"/>
            <a:chOff x="0" y="0"/>
            <a:chExt cx="5154511" cy="12530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897B">
                <a:alpha val="5882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>
                <a:alpha val="24706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052560" y="6309360"/>
            <a:ext cx="3840480" cy="914400"/>
            <a:chOff x="0" y="0"/>
            <a:chExt cx="512064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1206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CRUD Operations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246103" y="6296663"/>
            <a:ext cx="3865883" cy="939803"/>
            <a:chOff x="0" y="0"/>
            <a:chExt cx="5154511" cy="1253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897B">
                <a:alpha val="588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>
                <a:alpha val="24706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258800" y="6309360"/>
            <a:ext cx="3840480" cy="914400"/>
            <a:chOff x="0" y="0"/>
            <a:chExt cx="512064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1206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Mongoose, Schema &amp; Data Modeling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91440"/>
            <a:ext cx="16459200" cy="1554480"/>
            <a:chOff x="0" y="0"/>
            <a:chExt cx="2194560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Data &amp; Database?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38560" y="365760"/>
            <a:ext cx="6400800" cy="914400"/>
            <a:chOff x="0" y="0"/>
            <a:chExt cx="85344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5344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 i="true">
                  <a:solidFill>
                    <a:srgbClr val="00897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Basics for Beginners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273303"/>
            <a:ext cx="5511803" cy="5877563"/>
            <a:chOff x="0" y="0"/>
            <a:chExt cx="7349071" cy="78367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7802881"/>
            </a:xfrm>
            <a:custGeom>
              <a:avLst/>
              <a:gdLst/>
              <a:ahLst/>
              <a:cxnLst/>
              <a:rect r="r" b="b" t="t" l="l"/>
              <a:pathLst>
                <a:path h="780288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7836662"/>
            </a:xfrm>
            <a:custGeom>
              <a:avLst/>
              <a:gdLst/>
              <a:ahLst/>
              <a:cxnLst/>
              <a:rect r="r" b="b" t="t" l="l"/>
              <a:pathLst>
                <a:path h="78366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7819772"/>
                  </a:lnTo>
                  <a:cubicBezTo>
                    <a:pt x="7348982" y="7829169"/>
                    <a:pt x="7341362" y="7836662"/>
                    <a:pt x="7332091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7332091" y="7802880"/>
                  </a:lnTo>
                  <a:lnTo>
                    <a:pt x="7332091" y="7819772"/>
                  </a:lnTo>
                  <a:lnTo>
                    <a:pt x="7315200" y="7819772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273303"/>
            <a:ext cx="5511803" cy="1031243"/>
            <a:chOff x="0" y="0"/>
            <a:chExt cx="7349071" cy="137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8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58011"/>
                  </a:lnTo>
                  <a:cubicBezTo>
                    <a:pt x="7348982" y="1367409"/>
                    <a:pt x="7341362" y="1374902"/>
                    <a:pt x="7332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332091" y="1341120"/>
                  </a:lnTo>
                  <a:lnTo>
                    <a:pt x="7332091" y="1358011"/>
                  </a:lnTo>
                  <a:lnTo>
                    <a:pt x="7315200" y="1358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2286000"/>
            <a:ext cx="5486400" cy="1005840"/>
            <a:chOff x="0" y="0"/>
            <a:chExt cx="731520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What is Data?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8640" y="3383280"/>
            <a:ext cx="5486400" cy="4754880"/>
            <a:chOff x="0" y="0"/>
            <a:chExt cx="7315200" cy="6339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0"/>
                  </a:lnTo>
                  <a:lnTo>
                    <a:pt x="0" y="6339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96" t="0" r="-6119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315200" cy="638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A2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facts and figures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A2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such as name, age, marks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79543" y="2273303"/>
            <a:ext cx="5511803" cy="5877563"/>
            <a:chOff x="0" y="0"/>
            <a:chExt cx="7349071" cy="78367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0" cy="7802881"/>
            </a:xfrm>
            <a:custGeom>
              <a:avLst/>
              <a:gdLst/>
              <a:ahLst/>
              <a:cxnLst/>
              <a:rect r="r" b="b" t="t" l="l"/>
              <a:pathLst>
                <a:path h="780288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8982" cy="7836662"/>
            </a:xfrm>
            <a:custGeom>
              <a:avLst/>
              <a:gdLst/>
              <a:ahLst/>
              <a:cxnLst/>
              <a:rect r="r" b="b" t="t" l="l"/>
              <a:pathLst>
                <a:path h="78366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7819772"/>
                  </a:lnTo>
                  <a:cubicBezTo>
                    <a:pt x="7348982" y="7829169"/>
                    <a:pt x="7341362" y="7836662"/>
                    <a:pt x="7332091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7332091" y="7802880"/>
                  </a:lnTo>
                  <a:lnTo>
                    <a:pt x="7332091" y="7819772"/>
                  </a:lnTo>
                  <a:lnTo>
                    <a:pt x="7315200" y="7819772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79543" y="2273303"/>
            <a:ext cx="5511803" cy="1031243"/>
            <a:chOff x="0" y="0"/>
            <a:chExt cx="734907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48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58011"/>
                  </a:lnTo>
                  <a:cubicBezTo>
                    <a:pt x="7348982" y="1367409"/>
                    <a:pt x="7341362" y="1374902"/>
                    <a:pt x="7332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332091" y="1341120"/>
                  </a:lnTo>
                  <a:lnTo>
                    <a:pt x="7332091" y="1358011"/>
                  </a:lnTo>
                  <a:lnTo>
                    <a:pt x="7315200" y="1358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92240" y="2286000"/>
            <a:ext cx="5486400" cy="1005840"/>
            <a:chOff x="0" y="0"/>
            <a:chExt cx="731520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  What is a Database?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92240" y="3383280"/>
            <a:ext cx="5486400" cy="4754880"/>
            <a:chOff x="0" y="0"/>
            <a:chExt cx="7315200" cy="6339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0"/>
                  </a:lnTo>
                  <a:lnTo>
                    <a:pt x="0" y="6339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96" t="0" r="-6119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315200" cy="638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A2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organized, structured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A2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collection of data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23143" y="2273303"/>
            <a:ext cx="5511803" cy="5877563"/>
            <a:chOff x="0" y="0"/>
            <a:chExt cx="7349071" cy="78367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315200" cy="7802881"/>
            </a:xfrm>
            <a:custGeom>
              <a:avLst/>
              <a:gdLst/>
              <a:ahLst/>
              <a:cxnLst/>
              <a:rect r="r" b="b" t="t" l="l"/>
              <a:pathLst>
                <a:path h="780288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48982" cy="7836662"/>
            </a:xfrm>
            <a:custGeom>
              <a:avLst/>
              <a:gdLst/>
              <a:ahLst/>
              <a:cxnLst/>
              <a:rect r="r" b="b" t="t" l="l"/>
              <a:pathLst>
                <a:path h="78366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7819772"/>
                  </a:lnTo>
                  <a:cubicBezTo>
                    <a:pt x="7348982" y="7829169"/>
                    <a:pt x="7341362" y="7836662"/>
                    <a:pt x="7332091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7332091" y="7802880"/>
                  </a:lnTo>
                  <a:lnTo>
                    <a:pt x="7332091" y="7819772"/>
                  </a:lnTo>
                  <a:lnTo>
                    <a:pt x="7315200" y="7819772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423143" y="2273303"/>
            <a:ext cx="5511803" cy="1031243"/>
            <a:chOff x="0" y="0"/>
            <a:chExt cx="7349071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48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58011"/>
                  </a:lnTo>
                  <a:cubicBezTo>
                    <a:pt x="7348982" y="1367409"/>
                    <a:pt x="7341362" y="1374902"/>
                    <a:pt x="7332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332091" y="1341120"/>
                  </a:lnTo>
                  <a:lnTo>
                    <a:pt x="7332091" y="1358011"/>
                  </a:lnTo>
                  <a:lnTo>
                    <a:pt x="7315200" y="1358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35840" y="2286000"/>
            <a:ext cx="5486400" cy="1005840"/>
            <a:chOff x="0" y="0"/>
            <a:chExt cx="731520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🎓  Example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35840" y="3383280"/>
            <a:ext cx="5486400" cy="4754880"/>
            <a:chOff x="0" y="0"/>
            <a:chExt cx="7315200" cy="6339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0"/>
                  </a:lnTo>
                  <a:lnTo>
                    <a:pt x="0" y="6339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96" t="0" r="-61196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315200" cy="638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A2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records stored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A2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a school system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5943" y="8399783"/>
            <a:ext cx="17216123" cy="1305563"/>
            <a:chOff x="0" y="0"/>
            <a:chExt cx="22954831" cy="17407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29209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954743" cy="1740662"/>
            </a:xfrm>
            <a:custGeom>
              <a:avLst/>
              <a:gdLst/>
              <a:ahLst/>
              <a:cxnLst/>
              <a:rect r="r" b="b" t="t" l="l"/>
              <a:pathLst>
                <a:path h="174066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723771"/>
                  </a:lnTo>
                  <a:cubicBezTo>
                    <a:pt x="22954743" y="1733169"/>
                    <a:pt x="22947123" y="1740662"/>
                    <a:pt x="2293785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2937851" y="1706880"/>
                  </a:lnTo>
                  <a:lnTo>
                    <a:pt x="22937851" y="1723771"/>
                  </a:lnTo>
                  <a:lnTo>
                    <a:pt x="22920961" y="172377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48640" y="8412480"/>
            <a:ext cx="17190720" cy="1280160"/>
            <a:chOff x="0" y="0"/>
            <a:chExt cx="22920960" cy="1706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9209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656" r="0" b="-21165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292096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Databases?   🔹 Store large data   🔹 Retrieve quickly   🔹 Manage efficiently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11E2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E2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9169403" cy="153419"/>
            <a:chOff x="0" y="0"/>
            <a:chExt cx="12225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2192000" cy="170688"/>
            </a:xfrm>
            <a:custGeom>
              <a:avLst/>
              <a:gdLst/>
              <a:ahLst/>
              <a:cxnLst/>
              <a:rect r="r" b="b" t="t" l="l"/>
              <a:pathLst>
                <a:path h="17068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5782" cy="204472"/>
            </a:xfrm>
            <a:custGeom>
              <a:avLst/>
              <a:gdLst/>
              <a:ahLst/>
              <a:cxnLst/>
              <a:rect r="r" b="b" t="t" l="l"/>
              <a:pathLst>
                <a:path h="20447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87579"/>
                  </a:lnTo>
                  <a:cubicBezTo>
                    <a:pt x="12225782" y="196977"/>
                    <a:pt x="12218162" y="204470"/>
                    <a:pt x="122088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2208891" y="170688"/>
                  </a:lnTo>
                  <a:lnTo>
                    <a:pt x="12208891" y="187579"/>
                  </a:lnTo>
                  <a:lnTo>
                    <a:pt x="12192000" y="18757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31303" y="1724663"/>
            <a:ext cx="9169403" cy="153419"/>
            <a:chOff x="0" y="0"/>
            <a:chExt cx="12225871" cy="204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2192000" cy="170688"/>
            </a:xfrm>
            <a:custGeom>
              <a:avLst/>
              <a:gdLst/>
              <a:ahLst/>
              <a:cxnLst/>
              <a:rect r="r" b="b" t="t" l="l"/>
              <a:pathLst>
                <a:path h="17068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25782" cy="204472"/>
            </a:xfrm>
            <a:custGeom>
              <a:avLst/>
              <a:gdLst/>
              <a:ahLst/>
              <a:cxnLst/>
              <a:rect r="r" b="b" t="t" l="l"/>
              <a:pathLst>
                <a:path h="20447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87579"/>
                  </a:lnTo>
                  <a:cubicBezTo>
                    <a:pt x="12225782" y="196977"/>
                    <a:pt x="12218162" y="204470"/>
                    <a:pt x="122088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2208891" y="170688"/>
                  </a:lnTo>
                  <a:lnTo>
                    <a:pt x="12208891" y="187579"/>
                  </a:lnTo>
                  <a:lnTo>
                    <a:pt x="12192000" y="18757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82880"/>
            <a:ext cx="16459200" cy="1463040"/>
            <a:chOff x="0" y="0"/>
            <a:chExt cx="2194560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2074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RDBMS  vs  NoSQL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090423"/>
            <a:ext cx="7980683" cy="7157723"/>
            <a:chOff x="0" y="0"/>
            <a:chExt cx="10640911" cy="9543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60704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5223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40822" cy="9543542"/>
            </a:xfrm>
            <a:custGeom>
              <a:avLst/>
              <a:gdLst/>
              <a:ahLst/>
              <a:cxnLst/>
              <a:rect r="r" b="b" t="t" l="l"/>
              <a:pathLst>
                <a:path h="954354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9526651"/>
                  </a:lnTo>
                  <a:cubicBezTo>
                    <a:pt x="10640822" y="9536049"/>
                    <a:pt x="10633202" y="9543542"/>
                    <a:pt x="1062393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10623931" y="9509760"/>
                  </a:lnTo>
                  <a:lnTo>
                    <a:pt x="10623931" y="9526651"/>
                  </a:lnTo>
                  <a:lnTo>
                    <a:pt x="10607040" y="952665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090423"/>
            <a:ext cx="7980683" cy="1122683"/>
            <a:chOff x="0" y="0"/>
            <a:chExt cx="10640911" cy="1496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607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40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479931"/>
                  </a:lnTo>
                  <a:cubicBezTo>
                    <a:pt x="10640822" y="1489329"/>
                    <a:pt x="10633202" y="1496822"/>
                    <a:pt x="1062393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623931" y="1463040"/>
                  </a:lnTo>
                  <a:lnTo>
                    <a:pt x="10623931" y="1479931"/>
                  </a:lnTo>
                  <a:lnTo>
                    <a:pt x="10607040" y="14799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2103120"/>
            <a:ext cx="7955280" cy="1097280"/>
            <a:chOff x="0" y="0"/>
            <a:chExt cx="1060704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07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6070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🏛  RDBMS (Relational)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3553463"/>
            <a:ext cx="427739" cy="427739"/>
            <a:chOff x="0" y="0"/>
            <a:chExt cx="570319" cy="5703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63040" y="3511296"/>
            <a:ext cx="6766560" cy="512064"/>
            <a:chOff x="0" y="0"/>
            <a:chExt cx="90220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0220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Tables, rows &amp; columns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4742183"/>
            <a:ext cx="427739" cy="427739"/>
            <a:chOff x="0" y="0"/>
            <a:chExt cx="570319" cy="5703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63040" y="4700016"/>
            <a:ext cx="6766560" cy="512064"/>
            <a:chOff x="0" y="0"/>
            <a:chExt cx="902208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0220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Fixed / rigid schema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1703" y="5930903"/>
            <a:ext cx="427739" cy="427739"/>
            <a:chOff x="0" y="0"/>
            <a:chExt cx="570319" cy="5703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63040" y="5888736"/>
            <a:ext cx="6766560" cy="512064"/>
            <a:chOff x="0" y="0"/>
            <a:chExt cx="90220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0220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query language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1703" y="7119623"/>
            <a:ext cx="427739" cy="427739"/>
            <a:chOff x="0" y="0"/>
            <a:chExt cx="570319" cy="5703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63040" y="7077456"/>
            <a:ext cx="6766560" cy="512064"/>
            <a:chOff x="0" y="0"/>
            <a:chExt cx="902208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0220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MySQL, PostgreSQL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71383" y="2090423"/>
            <a:ext cx="7980683" cy="7157723"/>
            <a:chOff x="0" y="0"/>
            <a:chExt cx="10640911" cy="95436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60704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A2226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640822" cy="9543542"/>
            </a:xfrm>
            <a:custGeom>
              <a:avLst/>
              <a:gdLst/>
              <a:ahLst/>
              <a:cxnLst/>
              <a:rect r="r" b="b" t="t" l="l"/>
              <a:pathLst>
                <a:path h="954354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9526651"/>
                  </a:lnTo>
                  <a:cubicBezTo>
                    <a:pt x="10640822" y="9536049"/>
                    <a:pt x="10633202" y="9543542"/>
                    <a:pt x="1062393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10623931" y="9509760"/>
                  </a:lnTo>
                  <a:lnTo>
                    <a:pt x="10623931" y="9526651"/>
                  </a:lnTo>
                  <a:lnTo>
                    <a:pt x="10607040" y="952665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71383" y="2090423"/>
            <a:ext cx="7980683" cy="1122683"/>
            <a:chOff x="0" y="0"/>
            <a:chExt cx="10640911" cy="14969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607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640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479931"/>
                  </a:lnTo>
                  <a:cubicBezTo>
                    <a:pt x="10640822" y="1489329"/>
                    <a:pt x="10633202" y="1496822"/>
                    <a:pt x="1062393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623931" y="1463040"/>
                  </a:lnTo>
                  <a:lnTo>
                    <a:pt x="10623931" y="1479931"/>
                  </a:lnTo>
                  <a:lnTo>
                    <a:pt x="10607040" y="14799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84080" y="2103120"/>
            <a:ext cx="7955280" cy="1097280"/>
            <a:chOff x="0" y="0"/>
            <a:chExt cx="10607040" cy="1463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07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06070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🍃  NoSQL (MongoDB)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137143" y="3553463"/>
            <a:ext cx="427739" cy="427739"/>
            <a:chOff x="0" y="0"/>
            <a:chExt cx="570319" cy="5703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698480" y="3511296"/>
            <a:ext cx="6766560" cy="512064"/>
            <a:chOff x="0" y="0"/>
            <a:chExt cx="902208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90220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Collections &amp; documents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137143" y="4742183"/>
            <a:ext cx="427739" cy="427739"/>
            <a:chOff x="0" y="0"/>
            <a:chExt cx="570319" cy="57031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698480" y="4700016"/>
            <a:ext cx="6766560" cy="512064"/>
            <a:chOff x="0" y="0"/>
            <a:chExt cx="902208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90220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Flexible / dynamic schema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137143" y="5930903"/>
            <a:ext cx="427739" cy="427739"/>
            <a:chOff x="0" y="0"/>
            <a:chExt cx="570319" cy="57031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698480" y="5888736"/>
            <a:ext cx="6766560" cy="512064"/>
            <a:chOff x="0" y="0"/>
            <a:chExt cx="902208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0220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JSON-like document storage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137143" y="7119623"/>
            <a:ext cx="427739" cy="427739"/>
            <a:chOff x="0" y="0"/>
            <a:chExt cx="570319" cy="57031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698480" y="7077456"/>
            <a:ext cx="6766560" cy="512064"/>
            <a:chOff x="0" y="0"/>
            <a:chExt cx="902208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90220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MongoDB, CouchDB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16903" y="4559303"/>
            <a:ext cx="1854203" cy="1854203"/>
            <a:chOff x="0" y="0"/>
            <a:chExt cx="2472271" cy="24722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FFD54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lnTo>
                    <a:pt x="1236091" y="16891"/>
                  </a:lnTo>
                  <a:lnTo>
                    <a:pt x="1236091" y="0"/>
                  </a:lnTo>
                  <a:cubicBezTo>
                    <a:pt x="1918843" y="0"/>
                    <a:pt x="2472182" y="553466"/>
                    <a:pt x="2472182" y="1236091"/>
                  </a:cubicBezTo>
                  <a:lnTo>
                    <a:pt x="2455291" y="1236091"/>
                  </a:lnTo>
                  <a:lnTo>
                    <a:pt x="2472182" y="1236091"/>
                  </a:lnTo>
                  <a:cubicBezTo>
                    <a:pt x="2472182" y="1918843"/>
                    <a:pt x="1918716" y="2472182"/>
                    <a:pt x="1236091" y="2472182"/>
                  </a:cubicBezTo>
                  <a:lnTo>
                    <a:pt x="1236091" y="2455291"/>
                  </a:lnTo>
                  <a:lnTo>
                    <a:pt x="1236091" y="2472182"/>
                  </a:lnTo>
                  <a:cubicBezTo>
                    <a:pt x="553466" y="2472309"/>
                    <a:pt x="0" y="1918843"/>
                    <a:pt x="0" y="1236091"/>
                  </a:cubicBezTo>
                  <a:lnTo>
                    <a:pt x="16891" y="12360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0" y="1236091"/>
                  </a:lnTo>
                  <a:moveTo>
                    <a:pt x="33909" y="1236091"/>
                  </a:moveTo>
                  <a:cubicBezTo>
                    <a:pt x="33909" y="1245489"/>
                    <a:pt x="26289" y="1252982"/>
                    <a:pt x="17018" y="1252982"/>
                  </a:cubicBezTo>
                  <a:cubicBezTo>
                    <a:pt x="7747" y="1252982"/>
                    <a:pt x="0" y="1245489"/>
                    <a:pt x="0" y="1236091"/>
                  </a:cubicBezTo>
                  <a:cubicBezTo>
                    <a:pt x="0" y="1226693"/>
                    <a:pt x="7620" y="1219200"/>
                    <a:pt x="16891" y="1219200"/>
                  </a:cubicBezTo>
                  <a:cubicBezTo>
                    <a:pt x="26162" y="1219200"/>
                    <a:pt x="33782" y="1226820"/>
                    <a:pt x="33782" y="1236091"/>
                  </a:cubicBezTo>
                  <a:cubicBezTo>
                    <a:pt x="33909" y="1900174"/>
                    <a:pt x="572135" y="2438400"/>
                    <a:pt x="1236091" y="2438400"/>
                  </a:cubicBezTo>
                  <a:cubicBezTo>
                    <a:pt x="1900174" y="2438400"/>
                    <a:pt x="2438400" y="1900174"/>
                    <a:pt x="2438400" y="1236091"/>
                  </a:cubicBezTo>
                  <a:cubicBezTo>
                    <a:pt x="2438400" y="572135"/>
                    <a:pt x="1900174" y="33782"/>
                    <a:pt x="1236091" y="33782"/>
                  </a:cubicBezTo>
                  <a:lnTo>
                    <a:pt x="1236091" y="16891"/>
                  </a:lnTo>
                  <a:lnTo>
                    <a:pt x="1236091" y="33909"/>
                  </a:lnTo>
                  <a:cubicBezTo>
                    <a:pt x="572135" y="33909"/>
                    <a:pt x="33909" y="572135"/>
                    <a:pt x="33909" y="1236091"/>
                  </a:cubicBez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229600" y="4572000"/>
            <a:ext cx="1828800" cy="1828800"/>
            <a:chOff x="0" y="0"/>
            <a:chExt cx="2438400" cy="2438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76200"/>
              <a:ext cx="243840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VS</a:t>
              </a:r>
            </a:p>
          </p:txBody>
        </p:sp>
      </p:grpSp>
      <p:graphicFrame>
        <p:nvGraphicFramePr>
          <p:cNvPr name="Table 86" id="86"/>
          <p:cNvGraphicFramePr>
            <a:graphicFrameLocks noGrp="true"/>
          </p:cNvGraphicFramePr>
          <p:nvPr/>
        </p:nvGraphicFramePr>
        <p:xfrm>
          <a:off x="548640" y="9326880"/>
          <a:ext cx="17145000" cy="914400"/>
        </p:xfrm>
        <a:graphic>
          <a:graphicData uri="http://schemas.openxmlformats.org/drawingml/2006/table">
            <a:tbl>
              <a:tblPr/>
              <a:tblGrid>
                <a:gridCol w="5654736"/>
                <a:gridCol w="5745132"/>
                <a:gridCol w="5745132"/>
              </a:tblGrid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RDBMS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MongoDB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8F5E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Schema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8F5E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Fixed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8F5E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Flexible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F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8F5E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8F5E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Tables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8F5E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Collections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F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8F5E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Relations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8F5E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Joins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8F5E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Embedded docs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91440"/>
            <a:ext cx="16459200" cy="1554480"/>
            <a:chOff x="0" y="0"/>
            <a:chExt cx="2194560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🍃  Introduction to MongoDB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090423"/>
            <a:ext cx="8255003" cy="2494283"/>
            <a:chOff x="0" y="0"/>
            <a:chExt cx="11006671" cy="3325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08731"/>
                  </a:lnTo>
                  <a:cubicBezTo>
                    <a:pt x="11006582" y="3318129"/>
                    <a:pt x="10998962" y="3325622"/>
                    <a:pt x="109896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989691" y="3291840"/>
                  </a:lnTo>
                  <a:lnTo>
                    <a:pt x="10989691" y="3308731"/>
                  </a:lnTo>
                  <a:lnTo>
                    <a:pt x="10972800" y="33087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090423"/>
            <a:ext cx="208283" cy="2494283"/>
            <a:chOff x="0" y="0"/>
            <a:chExt cx="277711" cy="3325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7622" cy="3325622"/>
            </a:xfrm>
            <a:custGeom>
              <a:avLst/>
              <a:gdLst/>
              <a:ahLst/>
              <a:cxnLst/>
              <a:rect r="r" b="b" t="t" l="l"/>
              <a:pathLst>
                <a:path h="332562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3308731"/>
                  </a:lnTo>
                  <a:cubicBezTo>
                    <a:pt x="277622" y="3318129"/>
                    <a:pt x="270002" y="3325622"/>
                    <a:pt x="26073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260731" y="3291840"/>
                  </a:lnTo>
                  <a:lnTo>
                    <a:pt x="260731" y="3308731"/>
                  </a:lnTo>
                  <a:lnTo>
                    <a:pt x="243840" y="33087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103120"/>
            <a:ext cx="7680960" cy="768096"/>
            <a:chOff x="0" y="0"/>
            <a:chExt cx="1024128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2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MongoDB?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05840" y="2859786"/>
            <a:ext cx="74980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NoSQL database that stores data as documents (JSON-like BSON format)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5943" y="4925063"/>
            <a:ext cx="8255003" cy="2494283"/>
            <a:chOff x="0" y="0"/>
            <a:chExt cx="11006671" cy="33257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0658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08731"/>
                  </a:lnTo>
                  <a:cubicBezTo>
                    <a:pt x="11006582" y="3318129"/>
                    <a:pt x="10998962" y="3325622"/>
                    <a:pt x="109896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989691" y="3291840"/>
                  </a:lnTo>
                  <a:lnTo>
                    <a:pt x="10989691" y="3308731"/>
                  </a:lnTo>
                  <a:lnTo>
                    <a:pt x="10972800" y="33087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5943" y="4925063"/>
            <a:ext cx="208283" cy="2494283"/>
            <a:chOff x="0" y="0"/>
            <a:chExt cx="277711" cy="33257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243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7622" cy="3325622"/>
            </a:xfrm>
            <a:custGeom>
              <a:avLst/>
              <a:gdLst/>
              <a:ahLst/>
              <a:cxnLst/>
              <a:rect r="r" b="b" t="t" l="l"/>
              <a:pathLst>
                <a:path h="332562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3308731"/>
                  </a:lnTo>
                  <a:cubicBezTo>
                    <a:pt x="277622" y="3318129"/>
                    <a:pt x="270002" y="3325622"/>
                    <a:pt x="26073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260731" y="3291840"/>
                  </a:lnTo>
                  <a:lnTo>
                    <a:pt x="260731" y="3308731"/>
                  </a:lnTo>
                  <a:lnTo>
                    <a:pt x="243840" y="33087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4937760"/>
            <a:ext cx="7680960" cy="768096"/>
            <a:chOff x="0" y="0"/>
            <a:chExt cx="10241280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2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05840" y="5694426"/>
            <a:ext cx="74980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  →  Collection  →  Document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35943" y="7851143"/>
            <a:ext cx="8255003" cy="1707899"/>
            <a:chOff x="0" y="0"/>
            <a:chExt cx="11006671" cy="22771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0972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06582" cy="2277110"/>
            </a:xfrm>
            <a:custGeom>
              <a:avLst/>
              <a:gdLst/>
              <a:ahLst/>
              <a:cxnLst/>
              <a:rect r="r" b="b" t="t" l="l"/>
              <a:pathLst>
                <a:path h="227711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260219"/>
                  </a:lnTo>
                  <a:cubicBezTo>
                    <a:pt x="11006582" y="2269617"/>
                    <a:pt x="10998962" y="2277110"/>
                    <a:pt x="10989691" y="2277110"/>
                  </a:cubicBezTo>
                  <a:lnTo>
                    <a:pt x="16891" y="2277110"/>
                  </a:lnTo>
                  <a:cubicBezTo>
                    <a:pt x="7493" y="2277110"/>
                    <a:pt x="0" y="2269490"/>
                    <a:pt x="0" y="22602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0219"/>
                  </a:lnTo>
                  <a:lnTo>
                    <a:pt x="16891" y="2260219"/>
                  </a:lnTo>
                  <a:lnTo>
                    <a:pt x="16891" y="2243328"/>
                  </a:lnTo>
                  <a:lnTo>
                    <a:pt x="10989691" y="2243328"/>
                  </a:lnTo>
                  <a:lnTo>
                    <a:pt x="10989691" y="2260219"/>
                  </a:lnTo>
                  <a:lnTo>
                    <a:pt x="10972800" y="22602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35943" y="7851143"/>
            <a:ext cx="208283" cy="1707899"/>
            <a:chOff x="0" y="0"/>
            <a:chExt cx="277711" cy="22771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243840" cy="2243328"/>
            </a:xfrm>
            <a:custGeom>
              <a:avLst/>
              <a:gdLst/>
              <a:ahLst/>
              <a:cxnLst/>
              <a:rect r="r" b="b" t="t" l="l"/>
              <a:pathLst>
                <a:path h="2243328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7622" cy="2277110"/>
            </a:xfrm>
            <a:custGeom>
              <a:avLst/>
              <a:gdLst/>
              <a:ahLst/>
              <a:cxnLst/>
              <a:rect r="r" b="b" t="t" l="l"/>
              <a:pathLst>
                <a:path h="2277110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260219"/>
                  </a:lnTo>
                  <a:cubicBezTo>
                    <a:pt x="277622" y="2269617"/>
                    <a:pt x="270002" y="2277110"/>
                    <a:pt x="260731" y="2277110"/>
                  </a:cubicBezTo>
                  <a:lnTo>
                    <a:pt x="16891" y="2277110"/>
                  </a:lnTo>
                  <a:cubicBezTo>
                    <a:pt x="7493" y="2277110"/>
                    <a:pt x="0" y="2269490"/>
                    <a:pt x="0" y="22602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0219"/>
                  </a:lnTo>
                  <a:lnTo>
                    <a:pt x="16891" y="2260219"/>
                  </a:lnTo>
                  <a:lnTo>
                    <a:pt x="16891" y="2243328"/>
                  </a:lnTo>
                  <a:lnTo>
                    <a:pt x="260731" y="2243328"/>
                  </a:lnTo>
                  <a:lnTo>
                    <a:pt x="260731" y="2260219"/>
                  </a:lnTo>
                  <a:lnTo>
                    <a:pt x="243840" y="2260219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7863840"/>
            <a:ext cx="7680960" cy="694944"/>
            <a:chOff x="0" y="0"/>
            <a:chExt cx="1024128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2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Advantages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8558784"/>
            <a:ext cx="7680960" cy="822960"/>
            <a:chOff x="0" y="0"/>
            <a:chExt cx="10241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241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Easy to learn   ✅ Flexible schema   ✅ Highly scalable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14183" y="2090423"/>
            <a:ext cx="8437883" cy="7523483"/>
            <a:chOff x="0" y="0"/>
            <a:chExt cx="11250511" cy="100313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12166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5042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014331"/>
                  </a:lnTo>
                  <a:cubicBezTo>
                    <a:pt x="11250422" y="10023729"/>
                    <a:pt x="11242802" y="10031222"/>
                    <a:pt x="1123353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11233531" y="9997440"/>
                  </a:lnTo>
                  <a:lnTo>
                    <a:pt x="11233531" y="10014331"/>
                  </a:lnTo>
                  <a:lnTo>
                    <a:pt x="11216640" y="100143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14183" y="2090423"/>
            <a:ext cx="8437883" cy="848363"/>
            <a:chOff x="0" y="0"/>
            <a:chExt cx="11250511" cy="1131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1216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52232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50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114171"/>
                  </a:lnTo>
                  <a:cubicBezTo>
                    <a:pt x="11250422" y="1123569"/>
                    <a:pt x="11242802" y="1131062"/>
                    <a:pt x="11233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233531" y="1097280"/>
                  </a:lnTo>
                  <a:lnTo>
                    <a:pt x="11233531" y="1114171"/>
                  </a:lnTo>
                  <a:lnTo>
                    <a:pt x="11216640" y="11141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223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497063" y="2236727"/>
            <a:ext cx="391163" cy="391163"/>
            <a:chOff x="0" y="0"/>
            <a:chExt cx="521551" cy="5215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EF535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009127" y="2236727"/>
            <a:ext cx="391163" cy="391163"/>
            <a:chOff x="0" y="0"/>
            <a:chExt cx="521551" cy="5215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FFD54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521191" y="2236727"/>
            <a:ext cx="391163" cy="391163"/>
            <a:chOff x="0" y="0"/>
            <a:chExt cx="521551" cy="5215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26880" y="2121408"/>
            <a:ext cx="8412480" cy="786384"/>
            <a:chOff x="0" y="0"/>
            <a:chExt cx="11216640" cy="10485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166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44" r="0" b="-15844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1216640" cy="1096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78909C"/>
                  </a:solidFill>
                  <a:latin typeface="Consolas"/>
                  <a:ea typeface="Consolas"/>
                  <a:cs typeface="Consolas"/>
                  <a:sym typeface="Consolas"/>
                </a:rPr>
                <a:t>Example Document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09760" y="3108960"/>
            <a:ext cx="8046720" cy="822960"/>
            <a:chOff x="0" y="0"/>
            <a:chExt cx="1072896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10728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{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09760" y="4023360"/>
            <a:ext cx="8046720" cy="822960"/>
            <a:chOff x="0" y="0"/>
            <a:chExt cx="1072896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10728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  "name"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n-US" sz="3000">
                  <a:solidFill>
                    <a:srgbClr val="FFD54F"/>
                  </a:solidFill>
                  <a:latin typeface="Consolas"/>
                  <a:ea typeface="Consolas"/>
                  <a:cs typeface="Consolas"/>
                  <a:sym typeface="Consolas"/>
                </a:rPr>
                <a:t>"Rohan"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09760" y="4937760"/>
            <a:ext cx="8046720" cy="822960"/>
            <a:chOff x="0" y="0"/>
            <a:chExt cx="1072896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10728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  "age"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n-US" sz="300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509760" y="5852160"/>
            <a:ext cx="8046720" cy="822960"/>
            <a:chOff x="0" y="0"/>
            <a:chExt cx="10728960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10728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  "course"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n-US" sz="3000">
                  <a:solidFill>
                    <a:srgbClr val="FFD54F"/>
                  </a:solidFill>
                  <a:latin typeface="Consolas"/>
                  <a:ea typeface="Consolas"/>
                  <a:cs typeface="Consolas"/>
                  <a:sym typeface="Consolas"/>
                </a:rPr>
                <a:t>"CS"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509760" y="6766560"/>
            <a:ext cx="8046720" cy="822960"/>
            <a:chOff x="0" y="0"/>
            <a:chExt cx="10728960" cy="1097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10728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  "enrolled"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n-US" sz="3000">
                  <a:solidFill>
                    <a:srgbClr val="FF7043"/>
                  </a:solidFill>
                  <a:latin typeface="Consolas"/>
                  <a:ea typeface="Consolas"/>
                  <a:cs typeface="Consolas"/>
                  <a:sym typeface="Consolas"/>
                </a:rPr>
                <a:t>true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509760" y="7680960"/>
            <a:ext cx="8046720" cy="822960"/>
            <a:chOff x="0" y="0"/>
            <a:chExt cx="1072896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10728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11E2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E2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91440"/>
            <a:ext cx="16459200" cy="1554480"/>
            <a:chOff x="0" y="0"/>
            <a:chExt cx="2194560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 Mongo Shell Basics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090423"/>
            <a:ext cx="8255003" cy="720347"/>
            <a:chOff x="0" y="0"/>
            <a:chExt cx="11006671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960376"/>
            </a:xfrm>
            <a:custGeom>
              <a:avLst/>
              <a:gdLst/>
              <a:ahLst/>
              <a:cxnLst/>
              <a:rect r="r" b="b" t="t" l="l"/>
              <a:pathLst>
                <a:path h="960376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43483"/>
                  </a:lnTo>
                  <a:cubicBezTo>
                    <a:pt x="11006582" y="952881"/>
                    <a:pt x="10998962" y="960374"/>
                    <a:pt x="10989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989691" y="926592"/>
                  </a:lnTo>
                  <a:lnTo>
                    <a:pt x="10989691" y="943483"/>
                  </a:lnTo>
                  <a:lnTo>
                    <a:pt x="10972800" y="9434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103120"/>
            <a:ext cx="8229600" cy="694944"/>
            <a:chOff x="0" y="0"/>
            <a:chExt cx="1097280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9728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Mongo Shell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785367"/>
            <a:ext cx="8255003" cy="1268987"/>
            <a:chOff x="0" y="0"/>
            <a:chExt cx="11006671" cy="1691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58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675003"/>
                  </a:lnTo>
                  <a:cubicBezTo>
                    <a:pt x="11006582" y="1684401"/>
                    <a:pt x="10998962" y="1691894"/>
                    <a:pt x="1098969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989691" y="1658112"/>
                  </a:lnTo>
                  <a:lnTo>
                    <a:pt x="10989691" y="1675003"/>
                  </a:lnTo>
                  <a:lnTo>
                    <a:pt x="10972800" y="167500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2905125"/>
            <a:ext cx="7498080" cy="85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mongosh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5943" y="5016503"/>
            <a:ext cx="8255003" cy="720347"/>
            <a:chOff x="0" y="0"/>
            <a:chExt cx="11006671" cy="9604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06582" cy="960376"/>
            </a:xfrm>
            <a:custGeom>
              <a:avLst/>
              <a:gdLst/>
              <a:ahLst/>
              <a:cxnLst/>
              <a:rect r="r" b="b" t="t" l="l"/>
              <a:pathLst>
                <a:path h="960376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43483"/>
                  </a:lnTo>
                  <a:cubicBezTo>
                    <a:pt x="11006582" y="952881"/>
                    <a:pt x="10998962" y="960374"/>
                    <a:pt x="10989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989691" y="926592"/>
                  </a:lnTo>
                  <a:lnTo>
                    <a:pt x="10989691" y="943483"/>
                  </a:lnTo>
                  <a:lnTo>
                    <a:pt x="10972800" y="94348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48640" y="5029200"/>
            <a:ext cx="8229600" cy="694944"/>
            <a:chOff x="0" y="0"/>
            <a:chExt cx="10972800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9728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Basic Commands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5943" y="5711447"/>
            <a:ext cx="8255003" cy="3024635"/>
            <a:chOff x="0" y="0"/>
            <a:chExt cx="11006671" cy="40328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0972800" cy="3998976"/>
            </a:xfrm>
            <a:custGeom>
              <a:avLst/>
              <a:gdLst/>
              <a:ahLst/>
              <a:cxnLst/>
              <a:rect r="r" b="b" t="t" l="l"/>
              <a:pathLst>
                <a:path h="399897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998976"/>
                  </a:lnTo>
                  <a:lnTo>
                    <a:pt x="0" y="3998976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06582" cy="4032758"/>
            </a:xfrm>
            <a:custGeom>
              <a:avLst/>
              <a:gdLst/>
              <a:ahLst/>
              <a:cxnLst/>
              <a:rect r="r" b="b" t="t" l="l"/>
              <a:pathLst>
                <a:path h="403275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015867"/>
                  </a:lnTo>
                  <a:cubicBezTo>
                    <a:pt x="11006582" y="4025265"/>
                    <a:pt x="10998962" y="4032758"/>
                    <a:pt x="10989691" y="4032758"/>
                  </a:cubicBezTo>
                  <a:lnTo>
                    <a:pt x="16891" y="4032758"/>
                  </a:lnTo>
                  <a:cubicBezTo>
                    <a:pt x="7493" y="4032758"/>
                    <a:pt x="0" y="4025138"/>
                    <a:pt x="0" y="4015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15867"/>
                  </a:lnTo>
                  <a:lnTo>
                    <a:pt x="16891" y="4015867"/>
                  </a:lnTo>
                  <a:lnTo>
                    <a:pt x="16891" y="3998976"/>
                  </a:lnTo>
                  <a:lnTo>
                    <a:pt x="10989691" y="3998976"/>
                  </a:lnTo>
                  <a:lnTo>
                    <a:pt x="10989691" y="4015867"/>
                  </a:lnTo>
                  <a:lnTo>
                    <a:pt x="10972800" y="4015867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14400" y="5831205"/>
            <a:ext cx="7498080" cy="260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show dbs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use school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show collections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14183" y="2090423"/>
            <a:ext cx="8437883" cy="7066283"/>
            <a:chOff x="0" y="0"/>
            <a:chExt cx="11250511" cy="94217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216640" cy="9387840"/>
            </a:xfrm>
            <a:custGeom>
              <a:avLst/>
              <a:gdLst/>
              <a:ahLst/>
              <a:cxnLst/>
              <a:rect r="r" b="b" t="t" l="l"/>
              <a:pathLst>
                <a:path h="9387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0A1F2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50422" cy="9421622"/>
            </a:xfrm>
            <a:custGeom>
              <a:avLst/>
              <a:gdLst/>
              <a:ahLst/>
              <a:cxnLst/>
              <a:rect r="r" b="b" t="t" l="l"/>
              <a:pathLst>
                <a:path h="94216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9404731"/>
                  </a:lnTo>
                  <a:cubicBezTo>
                    <a:pt x="11250422" y="9414129"/>
                    <a:pt x="11242802" y="9421622"/>
                    <a:pt x="11233531" y="9421622"/>
                  </a:cubicBezTo>
                  <a:lnTo>
                    <a:pt x="16891" y="9421622"/>
                  </a:lnTo>
                  <a:cubicBezTo>
                    <a:pt x="7493" y="9421622"/>
                    <a:pt x="0" y="9414002"/>
                    <a:pt x="0" y="9404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04731"/>
                  </a:lnTo>
                  <a:lnTo>
                    <a:pt x="16891" y="9404731"/>
                  </a:lnTo>
                  <a:lnTo>
                    <a:pt x="16891" y="9387840"/>
                  </a:lnTo>
                  <a:lnTo>
                    <a:pt x="11233531" y="9387840"/>
                  </a:lnTo>
                  <a:lnTo>
                    <a:pt x="11233531" y="9404731"/>
                  </a:lnTo>
                  <a:lnTo>
                    <a:pt x="11216640" y="94047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26880" y="2103120"/>
            <a:ext cx="8412480" cy="914400"/>
            <a:chOff x="0" y="0"/>
            <a:chExt cx="1121664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12166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Key Points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97063" y="3224279"/>
            <a:ext cx="482603" cy="482603"/>
            <a:chOff x="0" y="0"/>
            <a:chExt cx="643471" cy="6434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3382" cy="643384"/>
            </a:xfrm>
            <a:custGeom>
              <a:avLst/>
              <a:gdLst/>
              <a:ahLst/>
              <a:cxnLst/>
              <a:rect r="r" b="b" t="t" l="l"/>
              <a:pathLst>
                <a:path h="643384" w="643382">
                  <a:moveTo>
                    <a:pt x="16891" y="0"/>
                  </a:moveTo>
                  <a:lnTo>
                    <a:pt x="626491" y="0"/>
                  </a:lnTo>
                  <a:cubicBezTo>
                    <a:pt x="635889" y="0"/>
                    <a:pt x="643382" y="7620"/>
                    <a:pt x="643382" y="16891"/>
                  </a:cubicBezTo>
                  <a:lnTo>
                    <a:pt x="643382" y="626491"/>
                  </a:lnTo>
                  <a:cubicBezTo>
                    <a:pt x="643382" y="635889"/>
                    <a:pt x="635762" y="643382"/>
                    <a:pt x="62649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626491" y="609600"/>
                  </a:lnTo>
                  <a:lnTo>
                    <a:pt x="626491" y="626491"/>
                  </a:lnTo>
                  <a:lnTo>
                    <a:pt x="609600" y="626491"/>
                  </a:lnTo>
                  <a:lnTo>
                    <a:pt x="609600" y="16891"/>
                  </a:lnTo>
                  <a:lnTo>
                    <a:pt x="626491" y="16891"/>
                  </a:lnTo>
                  <a:lnTo>
                    <a:pt x="626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149840" y="3182112"/>
            <a:ext cx="7315200" cy="658368"/>
            <a:chOff x="0" y="0"/>
            <a:chExt cx="9753600" cy="877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mongosh launches the interactive MongoDB shell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97063" y="4175255"/>
            <a:ext cx="482603" cy="482603"/>
            <a:chOff x="0" y="0"/>
            <a:chExt cx="643471" cy="6434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3382" cy="643384"/>
            </a:xfrm>
            <a:custGeom>
              <a:avLst/>
              <a:gdLst/>
              <a:ahLst/>
              <a:cxnLst/>
              <a:rect r="r" b="b" t="t" l="l"/>
              <a:pathLst>
                <a:path h="643384" w="643382">
                  <a:moveTo>
                    <a:pt x="16891" y="0"/>
                  </a:moveTo>
                  <a:lnTo>
                    <a:pt x="626491" y="0"/>
                  </a:lnTo>
                  <a:cubicBezTo>
                    <a:pt x="635889" y="0"/>
                    <a:pt x="643382" y="7620"/>
                    <a:pt x="643382" y="16891"/>
                  </a:cubicBezTo>
                  <a:lnTo>
                    <a:pt x="643382" y="626491"/>
                  </a:lnTo>
                  <a:cubicBezTo>
                    <a:pt x="643382" y="635889"/>
                    <a:pt x="635762" y="643382"/>
                    <a:pt x="62649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626491" y="609600"/>
                  </a:lnTo>
                  <a:lnTo>
                    <a:pt x="626491" y="626491"/>
                  </a:lnTo>
                  <a:lnTo>
                    <a:pt x="609600" y="626491"/>
                  </a:lnTo>
                  <a:lnTo>
                    <a:pt x="609600" y="16891"/>
                  </a:lnTo>
                  <a:lnTo>
                    <a:pt x="626491" y="16891"/>
                  </a:lnTo>
                  <a:lnTo>
                    <a:pt x="626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149840" y="4133088"/>
            <a:ext cx="7315200" cy="658368"/>
            <a:chOff x="0" y="0"/>
            <a:chExt cx="9753600" cy="877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show dbs  lists all databases on the server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97063" y="5126231"/>
            <a:ext cx="482603" cy="482603"/>
            <a:chOff x="0" y="0"/>
            <a:chExt cx="643471" cy="6434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3382" cy="643384"/>
            </a:xfrm>
            <a:custGeom>
              <a:avLst/>
              <a:gdLst/>
              <a:ahLst/>
              <a:cxnLst/>
              <a:rect r="r" b="b" t="t" l="l"/>
              <a:pathLst>
                <a:path h="643384" w="643382">
                  <a:moveTo>
                    <a:pt x="16891" y="0"/>
                  </a:moveTo>
                  <a:lnTo>
                    <a:pt x="626491" y="0"/>
                  </a:lnTo>
                  <a:cubicBezTo>
                    <a:pt x="635889" y="0"/>
                    <a:pt x="643382" y="7620"/>
                    <a:pt x="643382" y="16891"/>
                  </a:cubicBezTo>
                  <a:lnTo>
                    <a:pt x="643382" y="626491"/>
                  </a:lnTo>
                  <a:cubicBezTo>
                    <a:pt x="643382" y="635889"/>
                    <a:pt x="635762" y="643382"/>
                    <a:pt x="62649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626491" y="609600"/>
                  </a:lnTo>
                  <a:lnTo>
                    <a:pt x="626491" y="626491"/>
                  </a:lnTo>
                  <a:lnTo>
                    <a:pt x="609600" y="626491"/>
                  </a:lnTo>
                  <a:lnTo>
                    <a:pt x="609600" y="16891"/>
                  </a:lnTo>
                  <a:lnTo>
                    <a:pt x="626491" y="16891"/>
                  </a:lnTo>
                  <a:lnTo>
                    <a:pt x="626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149840" y="5084064"/>
            <a:ext cx="7315200" cy="658368"/>
            <a:chOff x="0" y="0"/>
            <a:chExt cx="9753600" cy="8778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&lt;db&gt;  switches to (or creates) a database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497063" y="6077207"/>
            <a:ext cx="482603" cy="482603"/>
            <a:chOff x="0" y="0"/>
            <a:chExt cx="643471" cy="64347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3382" cy="643384"/>
            </a:xfrm>
            <a:custGeom>
              <a:avLst/>
              <a:gdLst/>
              <a:ahLst/>
              <a:cxnLst/>
              <a:rect r="r" b="b" t="t" l="l"/>
              <a:pathLst>
                <a:path h="643384" w="643382">
                  <a:moveTo>
                    <a:pt x="16891" y="0"/>
                  </a:moveTo>
                  <a:lnTo>
                    <a:pt x="626491" y="0"/>
                  </a:lnTo>
                  <a:cubicBezTo>
                    <a:pt x="635889" y="0"/>
                    <a:pt x="643382" y="7620"/>
                    <a:pt x="643382" y="16891"/>
                  </a:cubicBezTo>
                  <a:lnTo>
                    <a:pt x="643382" y="626491"/>
                  </a:lnTo>
                  <a:cubicBezTo>
                    <a:pt x="643382" y="635889"/>
                    <a:pt x="635762" y="643382"/>
                    <a:pt x="62649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626491" y="609600"/>
                  </a:lnTo>
                  <a:lnTo>
                    <a:pt x="626491" y="626491"/>
                  </a:lnTo>
                  <a:lnTo>
                    <a:pt x="609600" y="626491"/>
                  </a:lnTo>
                  <a:lnTo>
                    <a:pt x="609600" y="16891"/>
                  </a:lnTo>
                  <a:lnTo>
                    <a:pt x="626491" y="16891"/>
                  </a:lnTo>
                  <a:lnTo>
                    <a:pt x="626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149840" y="6035040"/>
            <a:ext cx="7315200" cy="658368"/>
            <a:chOff x="0" y="0"/>
            <a:chExt cx="9753600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show collections  lists all collections in current DB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97063" y="7028183"/>
            <a:ext cx="482603" cy="482603"/>
            <a:chOff x="0" y="0"/>
            <a:chExt cx="643471" cy="6434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3382" cy="643384"/>
            </a:xfrm>
            <a:custGeom>
              <a:avLst/>
              <a:gdLst/>
              <a:ahLst/>
              <a:cxnLst/>
              <a:rect r="r" b="b" t="t" l="l"/>
              <a:pathLst>
                <a:path h="643384" w="643382">
                  <a:moveTo>
                    <a:pt x="16891" y="0"/>
                  </a:moveTo>
                  <a:lnTo>
                    <a:pt x="626491" y="0"/>
                  </a:lnTo>
                  <a:cubicBezTo>
                    <a:pt x="635889" y="0"/>
                    <a:pt x="643382" y="7620"/>
                    <a:pt x="643382" y="16891"/>
                  </a:cubicBezTo>
                  <a:lnTo>
                    <a:pt x="643382" y="626491"/>
                  </a:lnTo>
                  <a:cubicBezTo>
                    <a:pt x="643382" y="635889"/>
                    <a:pt x="635762" y="643382"/>
                    <a:pt x="62649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626491" y="609600"/>
                  </a:lnTo>
                  <a:lnTo>
                    <a:pt x="626491" y="626491"/>
                  </a:lnTo>
                  <a:lnTo>
                    <a:pt x="609600" y="626491"/>
                  </a:lnTo>
                  <a:lnTo>
                    <a:pt x="609600" y="16891"/>
                  </a:lnTo>
                  <a:lnTo>
                    <a:pt x="626491" y="16891"/>
                  </a:lnTo>
                  <a:lnTo>
                    <a:pt x="626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149840" y="6986016"/>
            <a:ext cx="7315200" cy="658368"/>
            <a:chOff x="0" y="0"/>
            <a:chExt cx="9753600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MongoDB auto-creates a collection when you insert data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497063" y="7979159"/>
            <a:ext cx="482603" cy="482603"/>
            <a:chOff x="0" y="0"/>
            <a:chExt cx="643471" cy="64347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3382" cy="643384"/>
            </a:xfrm>
            <a:custGeom>
              <a:avLst/>
              <a:gdLst/>
              <a:ahLst/>
              <a:cxnLst/>
              <a:rect r="r" b="b" t="t" l="l"/>
              <a:pathLst>
                <a:path h="643384" w="643382">
                  <a:moveTo>
                    <a:pt x="16891" y="0"/>
                  </a:moveTo>
                  <a:lnTo>
                    <a:pt x="626491" y="0"/>
                  </a:lnTo>
                  <a:cubicBezTo>
                    <a:pt x="635889" y="0"/>
                    <a:pt x="643382" y="7620"/>
                    <a:pt x="643382" y="16891"/>
                  </a:cubicBezTo>
                  <a:lnTo>
                    <a:pt x="643382" y="626491"/>
                  </a:lnTo>
                  <a:cubicBezTo>
                    <a:pt x="643382" y="635889"/>
                    <a:pt x="635762" y="643382"/>
                    <a:pt x="62649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626491" y="609600"/>
                  </a:lnTo>
                  <a:lnTo>
                    <a:pt x="626491" y="626491"/>
                  </a:lnTo>
                  <a:lnTo>
                    <a:pt x="609600" y="626491"/>
                  </a:lnTo>
                  <a:lnTo>
                    <a:pt x="609600" y="16891"/>
                  </a:lnTo>
                  <a:lnTo>
                    <a:pt x="626491" y="16891"/>
                  </a:lnTo>
                  <a:lnTo>
                    <a:pt x="626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149840" y="7936992"/>
            <a:ext cx="7315200" cy="658368"/>
            <a:chOff x="0" y="0"/>
            <a:chExt cx="9753600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is the environment where CRUD operations happen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35943" y="9277607"/>
            <a:ext cx="17216123" cy="720347"/>
            <a:chOff x="0" y="0"/>
            <a:chExt cx="22954831" cy="96046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22920960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54743" cy="960376"/>
            </a:xfrm>
            <a:custGeom>
              <a:avLst/>
              <a:gdLst/>
              <a:ahLst/>
              <a:cxnLst/>
              <a:rect r="r" b="b" t="t" l="l"/>
              <a:pathLst>
                <a:path h="96037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943483"/>
                  </a:lnTo>
                  <a:cubicBezTo>
                    <a:pt x="22954743" y="952881"/>
                    <a:pt x="22947123" y="960374"/>
                    <a:pt x="22937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2937851" y="926592"/>
                  </a:lnTo>
                  <a:lnTo>
                    <a:pt x="22937851" y="943483"/>
                  </a:lnTo>
                  <a:lnTo>
                    <a:pt x="22920961" y="94348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48640" y="9290304"/>
            <a:ext cx="17190720" cy="694944"/>
            <a:chOff x="0" y="0"/>
            <a:chExt cx="22920960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229209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👉  CRUD operations are performed directly in the Mongo shell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11E2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E2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FD54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91440"/>
            <a:ext cx="16824960" cy="1554480"/>
            <a:chOff x="0" y="0"/>
            <a:chExt cx="2243328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896" r="0" b="-16089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243328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 CRUD Overview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8400" y="402336"/>
            <a:ext cx="7498080" cy="822960"/>
            <a:chOff x="0" y="0"/>
            <a:chExt cx="99974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9974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 i="true">
                  <a:solidFill>
                    <a:srgbClr val="FFD5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Most Important Concept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2090423"/>
            <a:ext cx="3865883" cy="7249163"/>
            <a:chOff x="0" y="0"/>
            <a:chExt cx="5154511" cy="96655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120640" cy="9631681"/>
            </a:xfrm>
            <a:custGeom>
              <a:avLst/>
              <a:gdLst/>
              <a:ahLst/>
              <a:cxnLst/>
              <a:rect r="r" b="b" t="t" l="l"/>
              <a:pathLst>
                <a:path h="96316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0A1A2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54422" cy="9665462"/>
            </a:xfrm>
            <a:custGeom>
              <a:avLst/>
              <a:gdLst/>
              <a:ahLst/>
              <a:cxnLst/>
              <a:rect r="r" b="b" t="t" l="l"/>
              <a:pathLst>
                <a:path h="96654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48572"/>
                  </a:lnTo>
                  <a:cubicBezTo>
                    <a:pt x="5154422" y="9657969"/>
                    <a:pt x="5146802" y="9665462"/>
                    <a:pt x="513753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137531" y="9631680"/>
                  </a:lnTo>
                  <a:lnTo>
                    <a:pt x="5137531" y="9648572"/>
                  </a:lnTo>
                  <a:lnTo>
                    <a:pt x="5120640" y="9648572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7383" y="2090423"/>
            <a:ext cx="3865883" cy="1305563"/>
            <a:chOff x="0" y="0"/>
            <a:chExt cx="5154511" cy="17407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4422" cy="1740662"/>
            </a:xfrm>
            <a:custGeom>
              <a:avLst/>
              <a:gdLst/>
              <a:ahLst/>
              <a:cxnLst/>
              <a:rect r="r" b="b" t="t" l="l"/>
              <a:pathLst>
                <a:path h="17406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23771"/>
                  </a:lnTo>
                  <a:cubicBezTo>
                    <a:pt x="5154422" y="1733169"/>
                    <a:pt x="5146802" y="1740662"/>
                    <a:pt x="513753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5137531" y="1706880"/>
                  </a:lnTo>
                  <a:lnTo>
                    <a:pt x="5137531" y="1723771"/>
                  </a:lnTo>
                  <a:lnTo>
                    <a:pt x="5120640" y="17237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2103120"/>
            <a:ext cx="3840480" cy="1280160"/>
            <a:chOff x="0" y="0"/>
            <a:chExt cx="512064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512064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0080" y="3474720"/>
            <a:ext cx="3840480" cy="914400"/>
            <a:chOff x="0" y="0"/>
            <a:chExt cx="512064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51206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080" y="4480560"/>
            <a:ext cx="3840480" cy="1737360"/>
            <a:chOff x="0" y="0"/>
            <a:chExt cx="5120640" cy="2316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42" t="0" r="-804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12064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new data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into the database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0263" y="6388103"/>
            <a:ext cx="3500123" cy="2677163"/>
            <a:chOff x="0" y="0"/>
            <a:chExt cx="4666831" cy="35695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6329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66742" cy="3569462"/>
            </a:xfrm>
            <a:custGeom>
              <a:avLst/>
              <a:gdLst/>
              <a:ahLst/>
              <a:cxnLst/>
              <a:rect r="r" b="b" t="t" l="l"/>
              <a:pathLst>
                <a:path h="356946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3552571"/>
                  </a:lnTo>
                  <a:cubicBezTo>
                    <a:pt x="4666742" y="3561969"/>
                    <a:pt x="4659122" y="3569462"/>
                    <a:pt x="464985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4649851" y="3535680"/>
                  </a:lnTo>
                  <a:lnTo>
                    <a:pt x="4649851" y="3552571"/>
                  </a:lnTo>
                  <a:lnTo>
                    <a:pt x="4632960" y="355257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6583680"/>
            <a:ext cx="3291840" cy="2286000"/>
            <a:chOff x="0" y="0"/>
            <a:chExt cx="4389120" cy="3048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99" t="0" r="-3909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38912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CAF50"/>
                  </a:solidFill>
                  <a:latin typeface="Consolas"/>
                  <a:ea typeface="Consolas"/>
                  <a:cs typeface="Consolas"/>
                  <a:sym typeface="Consolas"/>
                </a:rPr>
                <a:t>insertOne()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CAF50"/>
                  </a:solidFill>
                  <a:latin typeface="Consolas"/>
                  <a:ea typeface="Consolas"/>
                  <a:cs typeface="Consolas"/>
                  <a:sym typeface="Consolas"/>
                </a:rPr>
                <a:t>insertMany()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88487" y="2090423"/>
            <a:ext cx="3865883" cy="7249163"/>
            <a:chOff x="0" y="0"/>
            <a:chExt cx="5154511" cy="96655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120640" cy="9631681"/>
            </a:xfrm>
            <a:custGeom>
              <a:avLst/>
              <a:gdLst/>
              <a:ahLst/>
              <a:cxnLst/>
              <a:rect r="r" b="b" t="t" l="l"/>
              <a:pathLst>
                <a:path h="96316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0A1A2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4422" cy="9665462"/>
            </a:xfrm>
            <a:custGeom>
              <a:avLst/>
              <a:gdLst/>
              <a:ahLst/>
              <a:cxnLst/>
              <a:rect r="r" b="b" t="t" l="l"/>
              <a:pathLst>
                <a:path h="96654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48572"/>
                  </a:lnTo>
                  <a:cubicBezTo>
                    <a:pt x="5154422" y="9657969"/>
                    <a:pt x="5146802" y="9665462"/>
                    <a:pt x="513753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137531" y="9631680"/>
                  </a:lnTo>
                  <a:lnTo>
                    <a:pt x="5137531" y="9648572"/>
                  </a:lnTo>
                  <a:lnTo>
                    <a:pt x="5120640" y="9648572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888487" y="2090423"/>
            <a:ext cx="3865883" cy="1305563"/>
            <a:chOff x="0" y="0"/>
            <a:chExt cx="5154511" cy="17407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54422" cy="1740662"/>
            </a:xfrm>
            <a:custGeom>
              <a:avLst/>
              <a:gdLst/>
              <a:ahLst/>
              <a:cxnLst/>
              <a:rect r="r" b="b" t="t" l="l"/>
              <a:pathLst>
                <a:path h="17406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23771"/>
                  </a:lnTo>
                  <a:cubicBezTo>
                    <a:pt x="5154422" y="1733169"/>
                    <a:pt x="5146802" y="1740662"/>
                    <a:pt x="513753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5137531" y="1706880"/>
                  </a:lnTo>
                  <a:lnTo>
                    <a:pt x="5137531" y="1723771"/>
                  </a:lnTo>
                  <a:lnTo>
                    <a:pt x="5120640" y="17237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901184" y="2103120"/>
            <a:ext cx="3840480" cy="1280160"/>
            <a:chOff x="0" y="0"/>
            <a:chExt cx="5120640" cy="1706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23825"/>
              <a:ext cx="512064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01184" y="3474720"/>
            <a:ext cx="3840480" cy="914400"/>
            <a:chOff x="0" y="0"/>
            <a:chExt cx="512064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51206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42A5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901184" y="4480560"/>
            <a:ext cx="3840480" cy="1737360"/>
            <a:chOff x="0" y="0"/>
            <a:chExt cx="5120640" cy="2316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42" t="0" r="-804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12064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Retrieve / query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data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71367" y="6388103"/>
            <a:ext cx="3500123" cy="2677163"/>
            <a:chOff x="0" y="0"/>
            <a:chExt cx="4666831" cy="35695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46329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66742" cy="3569462"/>
            </a:xfrm>
            <a:custGeom>
              <a:avLst/>
              <a:gdLst/>
              <a:ahLst/>
              <a:cxnLst/>
              <a:rect r="r" b="b" t="t" l="l"/>
              <a:pathLst>
                <a:path h="356946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3552571"/>
                  </a:lnTo>
                  <a:cubicBezTo>
                    <a:pt x="4666742" y="3561969"/>
                    <a:pt x="4659122" y="3569462"/>
                    <a:pt x="464985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4649851" y="3535680"/>
                  </a:lnTo>
                  <a:lnTo>
                    <a:pt x="4649851" y="3552571"/>
                  </a:lnTo>
                  <a:lnTo>
                    <a:pt x="4632960" y="355257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175504" y="6583680"/>
            <a:ext cx="3291840" cy="2286000"/>
            <a:chOff x="0" y="0"/>
            <a:chExt cx="4389120" cy="3048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99" t="0" r="-3909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38912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find()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2A5F5"/>
                  </a:solidFill>
                  <a:latin typeface="Consolas"/>
                  <a:ea typeface="Consolas"/>
                  <a:cs typeface="Consolas"/>
                  <a:sym typeface="Consolas"/>
                </a:rPr>
                <a:t>findOne()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9591" y="2090423"/>
            <a:ext cx="3865883" cy="7249163"/>
            <a:chOff x="0" y="0"/>
            <a:chExt cx="5154511" cy="96655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120640" cy="9631681"/>
            </a:xfrm>
            <a:custGeom>
              <a:avLst/>
              <a:gdLst/>
              <a:ahLst/>
              <a:cxnLst/>
              <a:rect r="r" b="b" t="t" l="l"/>
              <a:pathLst>
                <a:path h="96316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0A1A27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54422" cy="9665462"/>
            </a:xfrm>
            <a:custGeom>
              <a:avLst/>
              <a:gdLst/>
              <a:ahLst/>
              <a:cxnLst/>
              <a:rect r="r" b="b" t="t" l="l"/>
              <a:pathLst>
                <a:path h="96654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48572"/>
                  </a:lnTo>
                  <a:cubicBezTo>
                    <a:pt x="5154422" y="9657969"/>
                    <a:pt x="5146802" y="9665462"/>
                    <a:pt x="513753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137531" y="9631680"/>
                  </a:lnTo>
                  <a:lnTo>
                    <a:pt x="5137531" y="9648572"/>
                  </a:lnTo>
                  <a:lnTo>
                    <a:pt x="5120640" y="9648572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9591" y="2090423"/>
            <a:ext cx="3865883" cy="1305563"/>
            <a:chOff x="0" y="0"/>
            <a:chExt cx="5154511" cy="17407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D54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54422" cy="1740662"/>
            </a:xfrm>
            <a:custGeom>
              <a:avLst/>
              <a:gdLst/>
              <a:ahLst/>
              <a:cxnLst/>
              <a:rect r="r" b="b" t="t" l="l"/>
              <a:pathLst>
                <a:path h="17406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23771"/>
                  </a:lnTo>
                  <a:cubicBezTo>
                    <a:pt x="5154422" y="1733169"/>
                    <a:pt x="5146802" y="1740662"/>
                    <a:pt x="513753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5137531" y="1706880"/>
                  </a:lnTo>
                  <a:lnTo>
                    <a:pt x="5137531" y="1723771"/>
                  </a:lnTo>
                  <a:lnTo>
                    <a:pt x="5120640" y="17237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162288" y="2103120"/>
            <a:ext cx="3840480" cy="1280160"/>
            <a:chOff x="0" y="0"/>
            <a:chExt cx="5120640" cy="17068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23825"/>
              <a:ext cx="512064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62288" y="3474720"/>
            <a:ext cx="3840480" cy="914400"/>
            <a:chOff x="0" y="0"/>
            <a:chExt cx="512064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51206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D5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UPDATE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62288" y="4480560"/>
            <a:ext cx="3840480" cy="1737360"/>
            <a:chOff x="0" y="0"/>
            <a:chExt cx="5120640" cy="23164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1206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42" t="0" r="-804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12064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Modify existing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records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32471" y="6388103"/>
            <a:ext cx="3500123" cy="2677163"/>
            <a:chOff x="0" y="0"/>
            <a:chExt cx="4666831" cy="35695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46329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666742" cy="3569462"/>
            </a:xfrm>
            <a:custGeom>
              <a:avLst/>
              <a:gdLst/>
              <a:ahLst/>
              <a:cxnLst/>
              <a:rect r="r" b="b" t="t" l="l"/>
              <a:pathLst>
                <a:path h="356946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3552571"/>
                  </a:lnTo>
                  <a:cubicBezTo>
                    <a:pt x="4666742" y="3561969"/>
                    <a:pt x="4659122" y="3569462"/>
                    <a:pt x="464985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4649851" y="3535680"/>
                  </a:lnTo>
                  <a:lnTo>
                    <a:pt x="4649851" y="3552571"/>
                  </a:lnTo>
                  <a:lnTo>
                    <a:pt x="4632960" y="355257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36608" y="6583680"/>
            <a:ext cx="3291840" cy="2286000"/>
            <a:chOff x="0" y="0"/>
            <a:chExt cx="4389120" cy="3048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8912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99" t="0" r="-39099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38912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D54F"/>
                  </a:solidFill>
                  <a:latin typeface="Consolas"/>
                  <a:ea typeface="Consolas"/>
                  <a:cs typeface="Consolas"/>
                  <a:sym typeface="Consolas"/>
                </a:rPr>
                <a:t>updateOne()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D54F"/>
                  </a:solidFill>
                  <a:latin typeface="Consolas"/>
                  <a:ea typeface="Consolas"/>
                  <a:cs typeface="Consolas"/>
                  <a:sym typeface="Consolas"/>
                </a:rPr>
                <a:t>updateMany()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410695" y="2090423"/>
            <a:ext cx="3865883" cy="7249163"/>
            <a:chOff x="0" y="0"/>
            <a:chExt cx="5154511" cy="96655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120640" cy="9631681"/>
            </a:xfrm>
            <a:custGeom>
              <a:avLst/>
              <a:gdLst/>
              <a:ahLst/>
              <a:cxnLst/>
              <a:rect r="r" b="b" t="t" l="l"/>
              <a:pathLst>
                <a:path h="96316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0A1A2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54422" cy="9665462"/>
            </a:xfrm>
            <a:custGeom>
              <a:avLst/>
              <a:gdLst/>
              <a:ahLst/>
              <a:cxnLst/>
              <a:rect r="r" b="b" t="t" l="l"/>
              <a:pathLst>
                <a:path h="96654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48572"/>
                  </a:lnTo>
                  <a:cubicBezTo>
                    <a:pt x="5154422" y="9657969"/>
                    <a:pt x="5146802" y="9665462"/>
                    <a:pt x="513753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5137531" y="9631680"/>
                  </a:lnTo>
                  <a:lnTo>
                    <a:pt x="5137531" y="9648572"/>
                  </a:lnTo>
                  <a:lnTo>
                    <a:pt x="5120640" y="9648572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410695" y="2090423"/>
            <a:ext cx="3865883" cy="1305563"/>
            <a:chOff x="0" y="0"/>
            <a:chExt cx="5154511" cy="174075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54422" cy="1740662"/>
            </a:xfrm>
            <a:custGeom>
              <a:avLst/>
              <a:gdLst/>
              <a:ahLst/>
              <a:cxnLst/>
              <a:rect r="r" b="b" t="t" l="l"/>
              <a:pathLst>
                <a:path h="174066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23771"/>
                  </a:lnTo>
                  <a:cubicBezTo>
                    <a:pt x="5154422" y="1733169"/>
                    <a:pt x="5146802" y="1740662"/>
                    <a:pt x="513753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5137531" y="1706880"/>
                  </a:lnTo>
                  <a:lnTo>
                    <a:pt x="5137531" y="1723771"/>
                  </a:lnTo>
                  <a:lnTo>
                    <a:pt x="5120640" y="17237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423392" y="2103120"/>
            <a:ext cx="3840480" cy="1280160"/>
            <a:chOff x="0" y="0"/>
            <a:chExt cx="5120640" cy="17068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23825"/>
              <a:ext cx="512064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423392" y="3474720"/>
            <a:ext cx="3840480" cy="914400"/>
            <a:chOff x="0" y="0"/>
            <a:chExt cx="5120640" cy="1219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51206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EF53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DELETE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423392" y="4480560"/>
            <a:ext cx="3840480" cy="1737360"/>
            <a:chOff x="0" y="0"/>
            <a:chExt cx="5120640" cy="23164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1206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42" t="0" r="-804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12064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 data from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database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593575" y="6388103"/>
            <a:ext cx="3500123" cy="2677163"/>
            <a:chOff x="0" y="0"/>
            <a:chExt cx="4666831" cy="356955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46329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666742" cy="3569462"/>
            </a:xfrm>
            <a:custGeom>
              <a:avLst/>
              <a:gdLst/>
              <a:ahLst/>
              <a:cxnLst/>
              <a:rect r="r" b="b" t="t" l="l"/>
              <a:pathLst>
                <a:path h="356946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3552571"/>
                  </a:lnTo>
                  <a:cubicBezTo>
                    <a:pt x="4666742" y="3561969"/>
                    <a:pt x="4659122" y="3569462"/>
                    <a:pt x="464985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4649851" y="3535680"/>
                  </a:lnTo>
                  <a:lnTo>
                    <a:pt x="4649851" y="3552571"/>
                  </a:lnTo>
                  <a:lnTo>
                    <a:pt x="4632960" y="355257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697712" y="6583680"/>
            <a:ext cx="3291840" cy="2286000"/>
            <a:chOff x="0" y="0"/>
            <a:chExt cx="4389120" cy="3048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38912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99" t="0" r="-39099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438912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F5350"/>
                  </a:solidFill>
                  <a:latin typeface="Consolas"/>
                  <a:ea typeface="Consolas"/>
                  <a:cs typeface="Consolas"/>
                  <a:sym typeface="Consolas"/>
                </a:rPr>
                <a:t>deleteOne()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F5350"/>
                  </a:solidFill>
                  <a:latin typeface="Consolas"/>
                  <a:ea typeface="Consolas"/>
                  <a:cs typeface="Consolas"/>
                  <a:sym typeface="Consolas"/>
                </a:rPr>
                <a:t>deleteMany()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48640" y="9601200"/>
            <a:ext cx="17190720" cy="548640"/>
            <a:chOff x="0" y="0"/>
            <a:chExt cx="2292096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22920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78909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app you build uses CRUD operations!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C3B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C3B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91440"/>
            <a:ext cx="16459200" cy="1554480"/>
            <a:chOff x="0" y="0"/>
            <a:chExt cx="2194560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🟢  CREATE Operations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090423"/>
            <a:ext cx="8255003" cy="793499"/>
            <a:chOff x="0" y="0"/>
            <a:chExt cx="11006671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041019"/>
                  </a:lnTo>
                  <a:cubicBezTo>
                    <a:pt x="11006582" y="1050417"/>
                    <a:pt x="10998962" y="1057910"/>
                    <a:pt x="109896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989691" y="1024128"/>
                  </a:lnTo>
                  <a:lnTo>
                    <a:pt x="10989691" y="1041019"/>
                  </a:lnTo>
                  <a:lnTo>
                    <a:pt x="10972800" y="10410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103120"/>
            <a:ext cx="8229600" cy="768096"/>
            <a:chOff x="0" y="0"/>
            <a:chExt cx="1097280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72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insertOne()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858519"/>
            <a:ext cx="8255003" cy="4414523"/>
            <a:chOff x="0" y="0"/>
            <a:chExt cx="11006671" cy="58860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582" cy="5885942"/>
            </a:xfrm>
            <a:custGeom>
              <a:avLst/>
              <a:gdLst/>
              <a:ahLst/>
              <a:cxnLst/>
              <a:rect r="r" b="b" t="t" l="l"/>
              <a:pathLst>
                <a:path h="58859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869051"/>
                  </a:lnTo>
                  <a:cubicBezTo>
                    <a:pt x="11006582" y="5878449"/>
                    <a:pt x="10998962" y="5885942"/>
                    <a:pt x="10989691" y="5885942"/>
                  </a:cubicBezTo>
                  <a:lnTo>
                    <a:pt x="16891" y="5885942"/>
                  </a:lnTo>
                  <a:cubicBezTo>
                    <a:pt x="7493" y="5885942"/>
                    <a:pt x="0" y="5878322"/>
                    <a:pt x="0" y="5869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869051"/>
                  </a:lnTo>
                  <a:lnTo>
                    <a:pt x="16891" y="5869051"/>
                  </a:lnTo>
                  <a:lnTo>
                    <a:pt x="16891" y="5852160"/>
                  </a:lnTo>
                  <a:lnTo>
                    <a:pt x="10989691" y="5852160"/>
                  </a:lnTo>
                  <a:lnTo>
                    <a:pt x="10989691" y="5869051"/>
                  </a:lnTo>
                  <a:lnTo>
                    <a:pt x="10972800" y="58690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3097530"/>
            <a:ext cx="758952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db.students.insertOne({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name: "Rohan",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age: 20,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course: "CS"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db.collection.insertOne(document)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7063" y="2090423"/>
            <a:ext cx="8255003" cy="793499"/>
            <a:chOff x="0" y="0"/>
            <a:chExt cx="11006671" cy="1057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065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041019"/>
                  </a:lnTo>
                  <a:cubicBezTo>
                    <a:pt x="11006582" y="1050417"/>
                    <a:pt x="10998962" y="1057910"/>
                    <a:pt x="109896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989691" y="1024128"/>
                  </a:lnTo>
                  <a:lnTo>
                    <a:pt x="10989691" y="1041019"/>
                  </a:lnTo>
                  <a:lnTo>
                    <a:pt x="10972800" y="10410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09760" y="2103120"/>
            <a:ext cx="8229600" cy="768096"/>
            <a:chOff x="0" y="0"/>
            <a:chExt cx="1097280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0972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insertMany()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97063" y="2858519"/>
            <a:ext cx="8255003" cy="4414523"/>
            <a:chOff x="0" y="0"/>
            <a:chExt cx="11006671" cy="58860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097280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06582" cy="5885942"/>
            </a:xfrm>
            <a:custGeom>
              <a:avLst/>
              <a:gdLst/>
              <a:ahLst/>
              <a:cxnLst/>
              <a:rect r="r" b="b" t="t" l="l"/>
              <a:pathLst>
                <a:path h="58859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869051"/>
                  </a:lnTo>
                  <a:cubicBezTo>
                    <a:pt x="11006582" y="5878449"/>
                    <a:pt x="10998962" y="5885942"/>
                    <a:pt x="10989691" y="5885942"/>
                  </a:cubicBezTo>
                  <a:lnTo>
                    <a:pt x="16891" y="5885942"/>
                  </a:lnTo>
                  <a:cubicBezTo>
                    <a:pt x="7493" y="5885942"/>
                    <a:pt x="0" y="5878322"/>
                    <a:pt x="0" y="5869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869051"/>
                  </a:lnTo>
                  <a:lnTo>
                    <a:pt x="16891" y="5869051"/>
                  </a:lnTo>
                  <a:lnTo>
                    <a:pt x="16891" y="5852160"/>
                  </a:lnTo>
                  <a:lnTo>
                    <a:pt x="10989691" y="5852160"/>
                  </a:lnTo>
                  <a:lnTo>
                    <a:pt x="10989691" y="5869051"/>
                  </a:lnTo>
                  <a:lnTo>
                    <a:pt x="10972800" y="58690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875520" y="3097530"/>
            <a:ext cx="758952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db.students.insertMany([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name: "Omkar", age: 21 },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name: "Priyanka", age: 22 }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db.collection.insertMany([document1, document2, ...])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35943" y="7485383"/>
            <a:ext cx="17216123" cy="2311403"/>
            <a:chOff x="0" y="0"/>
            <a:chExt cx="22954831" cy="30818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22920960" cy="3048000"/>
            </a:xfrm>
            <a:custGeom>
              <a:avLst/>
              <a:gdLst/>
              <a:ahLst/>
              <a:cxnLst/>
              <a:rect r="r" b="b" t="t" l="l"/>
              <a:pathLst>
                <a:path h="304800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954743" cy="3081782"/>
            </a:xfrm>
            <a:custGeom>
              <a:avLst/>
              <a:gdLst/>
              <a:ahLst/>
              <a:cxnLst/>
              <a:rect r="r" b="b" t="t" l="l"/>
              <a:pathLst>
                <a:path h="308178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3064891"/>
                  </a:lnTo>
                  <a:cubicBezTo>
                    <a:pt x="22954743" y="3074289"/>
                    <a:pt x="22947123" y="3081782"/>
                    <a:pt x="2293785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22937851" y="3048000"/>
                  </a:lnTo>
                  <a:lnTo>
                    <a:pt x="22937851" y="3064891"/>
                  </a:lnTo>
                  <a:lnTo>
                    <a:pt x="22920961" y="306489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7498080"/>
            <a:ext cx="5486400" cy="822960"/>
            <a:chOff x="0" y="0"/>
            <a:chExt cx="73152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7315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Important Points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31520" y="8321040"/>
            <a:ext cx="16824960" cy="1188720"/>
            <a:chOff x="0" y="0"/>
            <a:chExt cx="2243328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24332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23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🔹 _id is automatically generated by MongoDB     🔹 Collection is created automatically on first insert     🔹 You can insert nested / embedded data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14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4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91440"/>
            <a:ext cx="16459200" cy="1554480"/>
            <a:chOff x="0" y="0"/>
            <a:chExt cx="2194560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🔵  READ Operations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090423"/>
            <a:ext cx="5511803" cy="702059"/>
            <a:chOff x="0" y="0"/>
            <a:chExt cx="7349071" cy="9360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902208"/>
            </a:xfrm>
            <a:custGeom>
              <a:avLst/>
              <a:gdLst/>
              <a:ahLst/>
              <a:cxnLst/>
              <a:rect r="r" b="b" t="t" l="l"/>
              <a:pathLst>
                <a:path h="9022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935992"/>
            </a:xfrm>
            <a:custGeom>
              <a:avLst/>
              <a:gdLst/>
              <a:ahLst/>
              <a:cxnLst/>
              <a:rect r="r" b="b" t="t" l="l"/>
              <a:pathLst>
                <a:path h="93599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19099"/>
                  </a:lnTo>
                  <a:cubicBezTo>
                    <a:pt x="7348982" y="928497"/>
                    <a:pt x="7341362" y="935990"/>
                    <a:pt x="7332091" y="935990"/>
                  </a:cubicBezTo>
                  <a:lnTo>
                    <a:pt x="16891" y="935990"/>
                  </a:lnTo>
                  <a:cubicBezTo>
                    <a:pt x="7620" y="936117"/>
                    <a:pt x="0" y="928497"/>
                    <a:pt x="0" y="919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19099"/>
                  </a:lnTo>
                  <a:lnTo>
                    <a:pt x="16891" y="919099"/>
                  </a:lnTo>
                  <a:lnTo>
                    <a:pt x="16891" y="902208"/>
                  </a:lnTo>
                  <a:lnTo>
                    <a:pt x="7332091" y="902208"/>
                  </a:lnTo>
                  <a:lnTo>
                    <a:pt x="7332091" y="919099"/>
                  </a:lnTo>
                  <a:lnTo>
                    <a:pt x="7315200" y="9190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103120"/>
            <a:ext cx="5486400" cy="676656"/>
            <a:chOff x="0" y="0"/>
            <a:chExt cx="7315200" cy="9022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902208"/>
            </a:xfrm>
            <a:custGeom>
              <a:avLst/>
              <a:gdLst/>
              <a:ahLst/>
              <a:cxnLst/>
              <a:rect r="r" b="b" t="t" l="l"/>
              <a:pathLst>
                <a:path h="9022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986" r="0" b="-1079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15200" cy="959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Fetch All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767079"/>
            <a:ext cx="5511803" cy="1543307"/>
            <a:chOff x="0" y="0"/>
            <a:chExt cx="7349071" cy="20577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315200" cy="2023872"/>
            </a:xfrm>
            <a:custGeom>
              <a:avLst/>
              <a:gdLst/>
              <a:ahLst/>
              <a:cxnLst/>
              <a:rect r="r" b="b" t="t" l="l"/>
              <a:pathLst>
                <a:path h="20238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8982" cy="2057654"/>
            </a:xfrm>
            <a:custGeom>
              <a:avLst/>
              <a:gdLst/>
              <a:ahLst/>
              <a:cxnLst/>
              <a:rect r="r" b="b" t="t" l="l"/>
              <a:pathLst>
                <a:path h="205765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040763"/>
                  </a:lnTo>
                  <a:cubicBezTo>
                    <a:pt x="7348982" y="2050161"/>
                    <a:pt x="7341362" y="2057654"/>
                    <a:pt x="7332091" y="2057654"/>
                  </a:cubicBezTo>
                  <a:lnTo>
                    <a:pt x="16891" y="2057654"/>
                  </a:lnTo>
                  <a:cubicBezTo>
                    <a:pt x="7493" y="2057654"/>
                    <a:pt x="0" y="2050034"/>
                    <a:pt x="0" y="2040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40763"/>
                  </a:lnTo>
                  <a:lnTo>
                    <a:pt x="16891" y="2040763"/>
                  </a:lnTo>
                  <a:lnTo>
                    <a:pt x="16891" y="2023872"/>
                  </a:lnTo>
                  <a:lnTo>
                    <a:pt x="7332091" y="2023872"/>
                  </a:lnTo>
                  <a:lnTo>
                    <a:pt x="7332091" y="2040763"/>
                  </a:lnTo>
                  <a:lnTo>
                    <a:pt x="7315200" y="204076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22960" y="2924175"/>
            <a:ext cx="502920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db.students.find()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db.collection.find(query, projection)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79543" y="2090423"/>
            <a:ext cx="5511803" cy="702059"/>
            <a:chOff x="0" y="0"/>
            <a:chExt cx="7349071" cy="9360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7315200" cy="902208"/>
            </a:xfrm>
            <a:custGeom>
              <a:avLst/>
              <a:gdLst/>
              <a:ahLst/>
              <a:cxnLst/>
              <a:rect r="r" b="b" t="t" l="l"/>
              <a:pathLst>
                <a:path h="9022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8982" cy="935992"/>
            </a:xfrm>
            <a:custGeom>
              <a:avLst/>
              <a:gdLst/>
              <a:ahLst/>
              <a:cxnLst/>
              <a:rect r="r" b="b" t="t" l="l"/>
              <a:pathLst>
                <a:path h="93599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19099"/>
                  </a:lnTo>
                  <a:cubicBezTo>
                    <a:pt x="7348982" y="928497"/>
                    <a:pt x="7341362" y="935990"/>
                    <a:pt x="7332091" y="935990"/>
                  </a:cubicBezTo>
                  <a:lnTo>
                    <a:pt x="16891" y="935990"/>
                  </a:lnTo>
                  <a:cubicBezTo>
                    <a:pt x="7620" y="936117"/>
                    <a:pt x="0" y="928497"/>
                    <a:pt x="0" y="919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19099"/>
                  </a:lnTo>
                  <a:lnTo>
                    <a:pt x="16891" y="919099"/>
                  </a:lnTo>
                  <a:lnTo>
                    <a:pt x="16891" y="902208"/>
                  </a:lnTo>
                  <a:lnTo>
                    <a:pt x="7332091" y="902208"/>
                  </a:lnTo>
                  <a:lnTo>
                    <a:pt x="7332091" y="919099"/>
                  </a:lnTo>
                  <a:lnTo>
                    <a:pt x="7315200" y="9190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92240" y="2103120"/>
            <a:ext cx="5486400" cy="676656"/>
            <a:chOff x="0" y="0"/>
            <a:chExt cx="7315200" cy="9022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902208"/>
            </a:xfrm>
            <a:custGeom>
              <a:avLst/>
              <a:gdLst/>
              <a:ahLst/>
              <a:cxnLst/>
              <a:rect r="r" b="b" t="t" l="l"/>
              <a:pathLst>
                <a:path h="9022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986" r="0" b="-10798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315200" cy="959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 Data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79543" y="2767079"/>
            <a:ext cx="5511803" cy="1543307"/>
            <a:chOff x="0" y="0"/>
            <a:chExt cx="7349071" cy="20577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315200" cy="2023872"/>
            </a:xfrm>
            <a:custGeom>
              <a:avLst/>
              <a:gdLst/>
              <a:ahLst/>
              <a:cxnLst/>
              <a:rect r="r" b="b" t="t" l="l"/>
              <a:pathLst>
                <a:path h="20238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8982" cy="2057654"/>
            </a:xfrm>
            <a:custGeom>
              <a:avLst/>
              <a:gdLst/>
              <a:ahLst/>
              <a:cxnLst/>
              <a:rect r="r" b="b" t="t" l="l"/>
              <a:pathLst>
                <a:path h="205765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040763"/>
                  </a:lnTo>
                  <a:cubicBezTo>
                    <a:pt x="7348982" y="2050161"/>
                    <a:pt x="7341362" y="2057654"/>
                    <a:pt x="7332091" y="2057654"/>
                  </a:cubicBezTo>
                  <a:lnTo>
                    <a:pt x="16891" y="2057654"/>
                  </a:lnTo>
                  <a:cubicBezTo>
                    <a:pt x="7493" y="2057654"/>
                    <a:pt x="0" y="2050034"/>
                    <a:pt x="0" y="2040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40763"/>
                  </a:lnTo>
                  <a:lnTo>
                    <a:pt x="16891" y="2040763"/>
                  </a:lnTo>
                  <a:lnTo>
                    <a:pt x="16891" y="2023872"/>
                  </a:lnTo>
                  <a:lnTo>
                    <a:pt x="7332091" y="2023872"/>
                  </a:lnTo>
                  <a:lnTo>
                    <a:pt x="7332091" y="2040763"/>
                  </a:lnTo>
                  <a:lnTo>
                    <a:pt x="7315200" y="204076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766560" y="2924175"/>
            <a:ext cx="502920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db.students.find(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age: 20 }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423143" y="2090423"/>
            <a:ext cx="5328923" cy="702059"/>
            <a:chOff x="0" y="0"/>
            <a:chExt cx="7105231" cy="9360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071360" cy="902208"/>
            </a:xfrm>
            <a:custGeom>
              <a:avLst/>
              <a:gdLst/>
              <a:ahLst/>
              <a:cxnLst/>
              <a:rect r="r" b="b" t="t" l="l"/>
              <a:pathLst>
                <a:path h="9022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42A5F5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05142" cy="935992"/>
            </a:xfrm>
            <a:custGeom>
              <a:avLst/>
              <a:gdLst/>
              <a:ahLst/>
              <a:cxnLst/>
              <a:rect r="r" b="b" t="t" l="l"/>
              <a:pathLst>
                <a:path h="93599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19099"/>
                  </a:lnTo>
                  <a:cubicBezTo>
                    <a:pt x="7105142" y="928497"/>
                    <a:pt x="7097522" y="935990"/>
                    <a:pt x="7088251" y="935990"/>
                  </a:cubicBezTo>
                  <a:lnTo>
                    <a:pt x="16891" y="935990"/>
                  </a:lnTo>
                  <a:cubicBezTo>
                    <a:pt x="7620" y="936117"/>
                    <a:pt x="0" y="928497"/>
                    <a:pt x="0" y="919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19099"/>
                  </a:lnTo>
                  <a:lnTo>
                    <a:pt x="16891" y="919099"/>
                  </a:lnTo>
                  <a:lnTo>
                    <a:pt x="16891" y="902208"/>
                  </a:lnTo>
                  <a:lnTo>
                    <a:pt x="7088251" y="902208"/>
                  </a:lnTo>
                  <a:lnTo>
                    <a:pt x="7088251" y="919099"/>
                  </a:lnTo>
                  <a:lnTo>
                    <a:pt x="7071360" y="91909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435840" y="2103120"/>
            <a:ext cx="5303520" cy="676656"/>
            <a:chOff x="0" y="0"/>
            <a:chExt cx="7071360" cy="9022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71360" cy="902208"/>
            </a:xfrm>
            <a:custGeom>
              <a:avLst/>
              <a:gdLst/>
              <a:ahLst/>
              <a:cxnLst/>
              <a:rect r="r" b="b" t="t" l="l"/>
              <a:pathLst>
                <a:path h="90220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720" r="0" b="-10272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7071360" cy="959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23143" y="2767079"/>
            <a:ext cx="5328923" cy="1543307"/>
            <a:chOff x="0" y="0"/>
            <a:chExt cx="7105231" cy="20577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7071360" cy="2023872"/>
            </a:xfrm>
            <a:custGeom>
              <a:avLst/>
              <a:gdLst/>
              <a:ahLst/>
              <a:cxnLst/>
              <a:rect r="r" b="b" t="t" l="l"/>
              <a:pathLst>
                <a:path h="20238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05142" cy="2057654"/>
            </a:xfrm>
            <a:custGeom>
              <a:avLst/>
              <a:gdLst/>
              <a:ahLst/>
              <a:cxnLst/>
              <a:rect r="r" b="b" t="t" l="l"/>
              <a:pathLst>
                <a:path h="2057654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040763"/>
                  </a:lnTo>
                  <a:cubicBezTo>
                    <a:pt x="7105142" y="2050161"/>
                    <a:pt x="7097522" y="2057654"/>
                    <a:pt x="7088251" y="2057654"/>
                  </a:cubicBezTo>
                  <a:lnTo>
                    <a:pt x="16891" y="2057654"/>
                  </a:lnTo>
                  <a:cubicBezTo>
                    <a:pt x="7493" y="2057654"/>
                    <a:pt x="0" y="2050034"/>
                    <a:pt x="0" y="2040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40763"/>
                  </a:lnTo>
                  <a:lnTo>
                    <a:pt x="16891" y="2040763"/>
                  </a:lnTo>
                  <a:lnTo>
                    <a:pt x="16891" y="2023872"/>
                  </a:lnTo>
                  <a:lnTo>
                    <a:pt x="7088251" y="2023872"/>
                  </a:lnTo>
                  <a:lnTo>
                    <a:pt x="7088251" y="2040763"/>
                  </a:lnTo>
                  <a:lnTo>
                    <a:pt x="7071360" y="204076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710160" y="2924175"/>
            <a:ext cx="484632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db.students.find(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{},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name: 1, _id: 0 }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35943" y="4595879"/>
            <a:ext cx="11181083" cy="702059"/>
            <a:chOff x="0" y="0"/>
            <a:chExt cx="14908111" cy="9360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874239" cy="902208"/>
            </a:xfrm>
            <a:custGeom>
              <a:avLst/>
              <a:gdLst/>
              <a:ahLst/>
              <a:cxnLst/>
              <a:rect r="r" b="b" t="t" l="l"/>
              <a:pathLst>
                <a:path h="902208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902208"/>
                  </a:lnTo>
                  <a:lnTo>
                    <a:pt x="0" y="902208"/>
                  </a:ln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908022" cy="935992"/>
            </a:xfrm>
            <a:custGeom>
              <a:avLst/>
              <a:gdLst/>
              <a:ahLst/>
              <a:cxnLst/>
              <a:rect r="r" b="b" t="t" l="l"/>
              <a:pathLst>
                <a:path h="935992" w="14908022">
                  <a:moveTo>
                    <a:pt x="16891" y="0"/>
                  </a:moveTo>
                  <a:lnTo>
                    <a:pt x="14891130" y="0"/>
                  </a:lnTo>
                  <a:cubicBezTo>
                    <a:pt x="14900529" y="0"/>
                    <a:pt x="14908022" y="7620"/>
                    <a:pt x="14908022" y="16891"/>
                  </a:cubicBezTo>
                  <a:lnTo>
                    <a:pt x="14908022" y="919099"/>
                  </a:lnTo>
                  <a:cubicBezTo>
                    <a:pt x="14908022" y="928497"/>
                    <a:pt x="14900402" y="935990"/>
                    <a:pt x="14891130" y="935990"/>
                  </a:cubicBezTo>
                  <a:lnTo>
                    <a:pt x="16891" y="935990"/>
                  </a:lnTo>
                  <a:cubicBezTo>
                    <a:pt x="7620" y="936117"/>
                    <a:pt x="0" y="928497"/>
                    <a:pt x="0" y="919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19099"/>
                  </a:lnTo>
                  <a:lnTo>
                    <a:pt x="16891" y="919099"/>
                  </a:lnTo>
                  <a:lnTo>
                    <a:pt x="16891" y="902208"/>
                  </a:lnTo>
                  <a:lnTo>
                    <a:pt x="14891130" y="902208"/>
                  </a:lnTo>
                  <a:lnTo>
                    <a:pt x="14891130" y="919099"/>
                  </a:lnTo>
                  <a:lnTo>
                    <a:pt x="14874239" y="919099"/>
                  </a:lnTo>
                  <a:lnTo>
                    <a:pt x="14874239" y="16891"/>
                  </a:lnTo>
                  <a:lnTo>
                    <a:pt x="14891130" y="16891"/>
                  </a:lnTo>
                  <a:lnTo>
                    <a:pt x="148911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48640" y="4608576"/>
            <a:ext cx="11155680" cy="676656"/>
            <a:chOff x="0" y="0"/>
            <a:chExt cx="14874240" cy="9022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874239" cy="902208"/>
            </a:xfrm>
            <a:custGeom>
              <a:avLst/>
              <a:gdLst/>
              <a:ahLst/>
              <a:cxnLst/>
              <a:rect r="r" b="b" t="t" l="l"/>
              <a:pathLst>
                <a:path h="902208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239" r="0" b="-27123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4874240" cy="959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42A5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Queries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5272535"/>
            <a:ext cx="11181083" cy="2585723"/>
            <a:chOff x="0" y="0"/>
            <a:chExt cx="14908111" cy="34476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874239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908022" cy="3447542"/>
            </a:xfrm>
            <a:custGeom>
              <a:avLst/>
              <a:gdLst/>
              <a:ahLst/>
              <a:cxnLst/>
              <a:rect r="r" b="b" t="t" l="l"/>
              <a:pathLst>
                <a:path h="3447542" w="14908022">
                  <a:moveTo>
                    <a:pt x="16891" y="0"/>
                  </a:moveTo>
                  <a:lnTo>
                    <a:pt x="14891130" y="0"/>
                  </a:lnTo>
                  <a:cubicBezTo>
                    <a:pt x="14900529" y="0"/>
                    <a:pt x="14908022" y="7620"/>
                    <a:pt x="14908022" y="16891"/>
                  </a:cubicBezTo>
                  <a:lnTo>
                    <a:pt x="14908022" y="3430651"/>
                  </a:lnTo>
                  <a:cubicBezTo>
                    <a:pt x="14908022" y="3440049"/>
                    <a:pt x="14900402" y="3447542"/>
                    <a:pt x="14891130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4891130" y="3413760"/>
                  </a:lnTo>
                  <a:lnTo>
                    <a:pt x="14891130" y="3430651"/>
                  </a:lnTo>
                  <a:lnTo>
                    <a:pt x="14874239" y="3430651"/>
                  </a:lnTo>
                  <a:lnTo>
                    <a:pt x="14874239" y="16891"/>
                  </a:lnTo>
                  <a:lnTo>
                    <a:pt x="14891130" y="16891"/>
                  </a:lnTo>
                  <a:lnTo>
                    <a:pt x="148911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14400" y="5438394"/>
            <a:ext cx="10607040" cy="216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db.students.find({ age: { $gt: 20 } })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db.students.find({ $and: [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age: 20 }, { name: "Rohan" }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148823" y="4595879"/>
            <a:ext cx="5603243" cy="3262379"/>
            <a:chOff x="0" y="0"/>
            <a:chExt cx="7470991" cy="434983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7437120" cy="4315968"/>
            </a:xfrm>
            <a:custGeom>
              <a:avLst/>
              <a:gdLst/>
              <a:ahLst/>
              <a:cxnLst/>
              <a:rect r="r" b="b" t="t" l="l"/>
              <a:pathLst>
                <a:path h="431596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315968"/>
                  </a:lnTo>
                  <a:lnTo>
                    <a:pt x="0" y="4315968"/>
                  </a:lnTo>
                  <a:close/>
                </a:path>
              </a:pathLst>
            </a:custGeom>
            <a:solidFill>
              <a:srgbClr val="0A1F2E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70901" cy="4349750"/>
            </a:xfrm>
            <a:custGeom>
              <a:avLst/>
              <a:gdLst/>
              <a:ahLst/>
              <a:cxnLst/>
              <a:rect r="r" b="b" t="t" l="l"/>
              <a:pathLst>
                <a:path h="4349750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332859"/>
                  </a:lnTo>
                  <a:cubicBezTo>
                    <a:pt x="7470901" y="4342257"/>
                    <a:pt x="7463282" y="4349750"/>
                    <a:pt x="7454011" y="4349750"/>
                  </a:cubicBezTo>
                  <a:lnTo>
                    <a:pt x="16891" y="4349750"/>
                  </a:lnTo>
                  <a:cubicBezTo>
                    <a:pt x="7493" y="4349750"/>
                    <a:pt x="0" y="4342130"/>
                    <a:pt x="0" y="4332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332859"/>
                  </a:lnTo>
                  <a:lnTo>
                    <a:pt x="16891" y="4332859"/>
                  </a:lnTo>
                  <a:lnTo>
                    <a:pt x="16891" y="4315968"/>
                  </a:lnTo>
                  <a:lnTo>
                    <a:pt x="7454011" y="4315968"/>
                  </a:lnTo>
                  <a:lnTo>
                    <a:pt x="7454011" y="4332859"/>
                  </a:lnTo>
                  <a:lnTo>
                    <a:pt x="7437120" y="433285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161520" y="4608576"/>
            <a:ext cx="5577840" cy="822960"/>
            <a:chOff x="0" y="0"/>
            <a:chExt cx="743712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7437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Key Operators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31703" y="5565143"/>
            <a:ext cx="1525019" cy="720347"/>
            <a:chOff x="0" y="0"/>
            <a:chExt cx="2033359" cy="96046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33270" cy="960376"/>
            </a:xfrm>
            <a:custGeom>
              <a:avLst/>
              <a:gdLst/>
              <a:ahLst/>
              <a:cxnLst/>
              <a:rect r="r" b="b" t="t" l="l"/>
              <a:pathLst>
                <a:path h="960376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943483"/>
                  </a:lnTo>
                  <a:cubicBezTo>
                    <a:pt x="2033270" y="952881"/>
                    <a:pt x="2025650" y="960374"/>
                    <a:pt x="201637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016379" y="926592"/>
                  </a:lnTo>
                  <a:lnTo>
                    <a:pt x="2016379" y="943483"/>
                  </a:lnTo>
                  <a:lnTo>
                    <a:pt x="1999488" y="943483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344400" y="5577840"/>
            <a:ext cx="1499616" cy="694944"/>
            <a:chOff x="0" y="0"/>
            <a:chExt cx="1999488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1999488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$gt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069063" y="5565143"/>
            <a:ext cx="1525019" cy="720347"/>
            <a:chOff x="0" y="0"/>
            <a:chExt cx="2033359" cy="96046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33270" cy="960376"/>
            </a:xfrm>
            <a:custGeom>
              <a:avLst/>
              <a:gdLst/>
              <a:ahLst/>
              <a:cxnLst/>
              <a:rect r="r" b="b" t="t" l="l"/>
              <a:pathLst>
                <a:path h="960376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943483"/>
                  </a:lnTo>
                  <a:cubicBezTo>
                    <a:pt x="2033270" y="952881"/>
                    <a:pt x="2025650" y="960374"/>
                    <a:pt x="201637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016379" y="926592"/>
                  </a:lnTo>
                  <a:lnTo>
                    <a:pt x="2016379" y="943483"/>
                  </a:lnTo>
                  <a:lnTo>
                    <a:pt x="1999488" y="943483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081760" y="5577840"/>
            <a:ext cx="1499616" cy="694944"/>
            <a:chOff x="0" y="0"/>
            <a:chExt cx="1999488" cy="926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1999488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$lt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5806423" y="5565143"/>
            <a:ext cx="1525019" cy="720347"/>
            <a:chOff x="0" y="0"/>
            <a:chExt cx="2033359" cy="96046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33270" cy="960376"/>
            </a:xfrm>
            <a:custGeom>
              <a:avLst/>
              <a:gdLst/>
              <a:ahLst/>
              <a:cxnLst/>
              <a:rect r="r" b="b" t="t" l="l"/>
              <a:pathLst>
                <a:path h="960376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943483"/>
                  </a:lnTo>
                  <a:cubicBezTo>
                    <a:pt x="2033270" y="952881"/>
                    <a:pt x="2025650" y="960374"/>
                    <a:pt x="201637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016379" y="926592"/>
                  </a:lnTo>
                  <a:lnTo>
                    <a:pt x="2016379" y="943483"/>
                  </a:lnTo>
                  <a:lnTo>
                    <a:pt x="1999488" y="943483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819120" y="5577840"/>
            <a:ext cx="1499616" cy="694944"/>
            <a:chOff x="0" y="0"/>
            <a:chExt cx="1999488" cy="9265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1999488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$eq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331703" y="6570983"/>
            <a:ext cx="1525019" cy="720347"/>
            <a:chOff x="0" y="0"/>
            <a:chExt cx="2033359" cy="96046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33270" cy="960376"/>
            </a:xfrm>
            <a:custGeom>
              <a:avLst/>
              <a:gdLst/>
              <a:ahLst/>
              <a:cxnLst/>
              <a:rect r="r" b="b" t="t" l="l"/>
              <a:pathLst>
                <a:path h="960376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943483"/>
                  </a:lnTo>
                  <a:cubicBezTo>
                    <a:pt x="2033270" y="952881"/>
                    <a:pt x="2025650" y="960374"/>
                    <a:pt x="201637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016379" y="926592"/>
                  </a:lnTo>
                  <a:lnTo>
                    <a:pt x="2016379" y="943483"/>
                  </a:lnTo>
                  <a:lnTo>
                    <a:pt x="1999488" y="943483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344400" y="6583680"/>
            <a:ext cx="1499616" cy="694944"/>
            <a:chOff x="0" y="0"/>
            <a:chExt cx="1999488" cy="92659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1999488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$in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069063" y="6570983"/>
            <a:ext cx="1525019" cy="720347"/>
            <a:chOff x="0" y="0"/>
            <a:chExt cx="2033359" cy="96046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033270" cy="960376"/>
            </a:xfrm>
            <a:custGeom>
              <a:avLst/>
              <a:gdLst/>
              <a:ahLst/>
              <a:cxnLst/>
              <a:rect r="r" b="b" t="t" l="l"/>
              <a:pathLst>
                <a:path h="960376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943483"/>
                  </a:lnTo>
                  <a:cubicBezTo>
                    <a:pt x="2033270" y="952881"/>
                    <a:pt x="2025650" y="960374"/>
                    <a:pt x="201637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016379" y="926592"/>
                  </a:lnTo>
                  <a:lnTo>
                    <a:pt x="2016379" y="943483"/>
                  </a:lnTo>
                  <a:lnTo>
                    <a:pt x="1999488" y="943483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081760" y="6583680"/>
            <a:ext cx="1499616" cy="694944"/>
            <a:chOff x="0" y="0"/>
            <a:chExt cx="1999488" cy="9265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1999488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$and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5806423" y="6570983"/>
            <a:ext cx="1525019" cy="720347"/>
            <a:chOff x="0" y="0"/>
            <a:chExt cx="2033359" cy="96046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33270" cy="960376"/>
            </a:xfrm>
            <a:custGeom>
              <a:avLst/>
              <a:gdLst/>
              <a:ahLst/>
              <a:cxnLst/>
              <a:rect r="r" b="b" t="t" l="l"/>
              <a:pathLst>
                <a:path h="960376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943483"/>
                  </a:lnTo>
                  <a:cubicBezTo>
                    <a:pt x="2033270" y="952881"/>
                    <a:pt x="2025650" y="960374"/>
                    <a:pt x="201637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016379" y="926592"/>
                  </a:lnTo>
                  <a:lnTo>
                    <a:pt x="2016379" y="943483"/>
                  </a:lnTo>
                  <a:lnTo>
                    <a:pt x="1999488" y="943483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5819120" y="6583680"/>
            <a:ext cx="1499616" cy="694944"/>
            <a:chOff x="0" y="0"/>
            <a:chExt cx="1999488" cy="9265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999488" cy="926592"/>
            </a:xfrm>
            <a:custGeom>
              <a:avLst/>
              <a:gdLst/>
              <a:ahLst/>
              <a:cxnLst/>
              <a:rect r="r" b="b" t="t" l="l"/>
              <a:pathLst>
                <a:path h="92659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1999488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BFA5"/>
                  </a:solidFill>
                  <a:latin typeface="Consolas"/>
                  <a:ea typeface="Consolas"/>
                  <a:cs typeface="Consolas"/>
                  <a:sym typeface="Consolas"/>
                </a:rPr>
                <a:t>$or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535943" y="8125463"/>
            <a:ext cx="17216123" cy="1525019"/>
            <a:chOff x="0" y="0"/>
            <a:chExt cx="22954831" cy="203335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22920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A1F2E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954743" cy="2033270"/>
            </a:xfrm>
            <a:custGeom>
              <a:avLst/>
              <a:gdLst/>
              <a:ahLst/>
              <a:cxnLst/>
              <a:rect r="r" b="b" t="t" l="l"/>
              <a:pathLst>
                <a:path h="203327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016379"/>
                  </a:lnTo>
                  <a:cubicBezTo>
                    <a:pt x="22954743" y="2025777"/>
                    <a:pt x="22947123" y="2033270"/>
                    <a:pt x="229378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2937851" y="1999488"/>
                  </a:lnTo>
                  <a:lnTo>
                    <a:pt x="22937851" y="2016379"/>
                  </a:lnTo>
                  <a:lnTo>
                    <a:pt x="22920961" y="201637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822960" y="8321040"/>
            <a:ext cx="16459200" cy="1005840"/>
            <a:chOff x="0" y="0"/>
            <a:chExt cx="21945600" cy="13411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onsolas"/>
                  <a:ea typeface="Consolas"/>
                  <a:cs typeface="Consolas"/>
                  <a:sym typeface="Consolas"/>
                </a:rPr>
                <a:t>db.students.findOne({ name: "Rohan" })  →  returns only the first matching document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B21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B21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FD54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91440"/>
            <a:ext cx="16459200" cy="1554480"/>
            <a:chOff x="0" y="0"/>
            <a:chExt cx="2194560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🟡  UPDATE Operations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090423"/>
            <a:ext cx="8255003" cy="793499"/>
            <a:chOff x="0" y="0"/>
            <a:chExt cx="11006671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D54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041019"/>
                  </a:lnTo>
                  <a:cubicBezTo>
                    <a:pt x="11006582" y="1050417"/>
                    <a:pt x="10998962" y="1057910"/>
                    <a:pt x="109896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989691" y="1024128"/>
                  </a:lnTo>
                  <a:lnTo>
                    <a:pt x="10989691" y="1041019"/>
                  </a:lnTo>
                  <a:lnTo>
                    <a:pt x="10972800" y="10410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103120"/>
            <a:ext cx="8229600" cy="768096"/>
            <a:chOff x="0" y="0"/>
            <a:chExt cx="1097280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72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updateOne()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858519"/>
            <a:ext cx="8255003" cy="3865883"/>
            <a:chOff x="0" y="0"/>
            <a:chExt cx="11006671" cy="51545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5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137531"/>
                  </a:lnTo>
                  <a:cubicBezTo>
                    <a:pt x="11006582" y="5146929"/>
                    <a:pt x="10998962" y="5154422"/>
                    <a:pt x="109896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0989691" y="5120640"/>
                  </a:lnTo>
                  <a:lnTo>
                    <a:pt x="10989691" y="5137531"/>
                  </a:lnTo>
                  <a:lnTo>
                    <a:pt x="10972800" y="5137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3097530"/>
            <a:ext cx="758952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db.students.updateOne(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name: "Rohan" },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$set: { age: 21 } }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db.collection.updateOne(filter, update, options)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7063" y="2090423"/>
            <a:ext cx="8255003" cy="793499"/>
            <a:chOff x="0" y="0"/>
            <a:chExt cx="11006671" cy="1057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D54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065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041019"/>
                  </a:lnTo>
                  <a:cubicBezTo>
                    <a:pt x="11006582" y="1050417"/>
                    <a:pt x="10998962" y="1057910"/>
                    <a:pt x="109896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989691" y="1024128"/>
                  </a:lnTo>
                  <a:lnTo>
                    <a:pt x="10989691" y="1041019"/>
                  </a:lnTo>
                  <a:lnTo>
                    <a:pt x="10972800" y="10410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09760" y="2103120"/>
            <a:ext cx="8229600" cy="768096"/>
            <a:chOff x="0" y="0"/>
            <a:chExt cx="1097280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0972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updateMany()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97063" y="2858519"/>
            <a:ext cx="8255003" cy="3865883"/>
            <a:chOff x="0" y="0"/>
            <a:chExt cx="11006671" cy="515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065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137531"/>
                  </a:lnTo>
                  <a:cubicBezTo>
                    <a:pt x="11006582" y="5146929"/>
                    <a:pt x="10998962" y="5154422"/>
                    <a:pt x="109896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0989691" y="5120640"/>
                  </a:lnTo>
                  <a:lnTo>
                    <a:pt x="10989691" y="5137531"/>
                  </a:lnTo>
                  <a:lnTo>
                    <a:pt x="10972800" y="5137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875520" y="3097530"/>
            <a:ext cx="758952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db.students.updateMany(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{},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$inc: { age: 1 } }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db.collection.updateMany(filter, update, options)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35943" y="7028183"/>
            <a:ext cx="17216123" cy="665483"/>
            <a:chOff x="0" y="0"/>
            <a:chExt cx="22954831" cy="8873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22920960" cy="853440"/>
            </a:xfrm>
            <a:custGeom>
              <a:avLst/>
              <a:gdLst/>
              <a:ahLst/>
              <a:cxnLst/>
              <a:rect r="r" b="b" t="t" l="l"/>
              <a:pathLst>
                <a:path h="85344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FD54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954743" cy="887224"/>
            </a:xfrm>
            <a:custGeom>
              <a:avLst/>
              <a:gdLst/>
              <a:ahLst/>
              <a:cxnLst/>
              <a:rect r="r" b="b" t="t" l="l"/>
              <a:pathLst>
                <a:path h="88722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870331"/>
                  </a:lnTo>
                  <a:cubicBezTo>
                    <a:pt x="22954743" y="879729"/>
                    <a:pt x="22947123" y="887222"/>
                    <a:pt x="2293785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937851" y="853440"/>
                  </a:lnTo>
                  <a:lnTo>
                    <a:pt x="22937851" y="870331"/>
                  </a:lnTo>
                  <a:lnTo>
                    <a:pt x="22920961" y="87033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8640" y="7040880"/>
            <a:ext cx="17190720" cy="640080"/>
            <a:chOff x="0" y="0"/>
            <a:chExt cx="2292096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920961" cy="853440"/>
            </a:xfrm>
            <a:custGeom>
              <a:avLst/>
              <a:gdLst/>
              <a:ahLst/>
              <a:cxnLst/>
              <a:rect r="r" b="b" t="t" l="l"/>
              <a:pathLst>
                <a:path h="853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312" r="0" b="-47331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29209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Update Operators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35943" y="7759703"/>
            <a:ext cx="4048763" cy="1854203"/>
            <a:chOff x="0" y="0"/>
            <a:chExt cx="5398351" cy="24722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8640" y="7772400"/>
            <a:ext cx="4023360" cy="768096"/>
            <a:chOff x="0" y="0"/>
            <a:chExt cx="5364480" cy="10241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53644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4CAF5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$set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8640" y="8540496"/>
            <a:ext cx="4023360" cy="914400"/>
            <a:chOff x="0" y="0"/>
            <a:chExt cx="536448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364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/ update a field value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888487" y="7759703"/>
            <a:ext cx="4048763" cy="1854203"/>
            <a:chOff x="0" y="0"/>
            <a:chExt cx="5398351" cy="24722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901184" y="7772400"/>
            <a:ext cx="4023360" cy="768096"/>
            <a:chOff x="0" y="0"/>
            <a:chExt cx="5364480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53644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42A5F5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$inc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901184" y="8540496"/>
            <a:ext cx="4023360" cy="914400"/>
            <a:chOff x="0" y="0"/>
            <a:chExt cx="536448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364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Increment a numeric field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241031" y="7759703"/>
            <a:ext cx="4048763" cy="1854203"/>
            <a:chOff x="0" y="0"/>
            <a:chExt cx="5398351" cy="247227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253728" y="7772400"/>
            <a:ext cx="4023360" cy="768096"/>
            <a:chOff x="0" y="0"/>
            <a:chExt cx="536448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53644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F535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$unset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253728" y="8540496"/>
            <a:ext cx="4023360" cy="914400"/>
            <a:chOff x="0" y="0"/>
            <a:chExt cx="5364480" cy="1219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5364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 a field entirely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593575" y="7759703"/>
            <a:ext cx="4048763" cy="1854203"/>
            <a:chOff x="0" y="0"/>
            <a:chExt cx="5398351" cy="247227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606272" y="7772400"/>
            <a:ext cx="4023360" cy="768096"/>
            <a:chOff x="0" y="0"/>
            <a:chExt cx="5364480" cy="10241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53644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0BCD4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$push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606272" y="8540496"/>
            <a:ext cx="4023360" cy="914400"/>
            <a:chOff x="0" y="0"/>
            <a:chExt cx="5364480" cy="1219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5364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item to an array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35943" y="9643367"/>
            <a:ext cx="17216123" cy="574043"/>
            <a:chOff x="0" y="0"/>
            <a:chExt cx="22954831" cy="76539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2292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FF8E1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54743" cy="765304"/>
            </a:xfrm>
            <a:custGeom>
              <a:avLst/>
              <a:gdLst/>
              <a:ahLst/>
              <a:cxnLst/>
              <a:rect r="r" b="b" t="t" l="l"/>
              <a:pathLst>
                <a:path h="76530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748411"/>
                  </a:lnTo>
                  <a:cubicBezTo>
                    <a:pt x="22954743" y="757809"/>
                    <a:pt x="22947123" y="765302"/>
                    <a:pt x="229378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2937851" y="731520"/>
                  </a:lnTo>
                  <a:lnTo>
                    <a:pt x="22937851" y="748411"/>
                  </a:lnTo>
                  <a:lnTo>
                    <a:pt x="22920961" y="74841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48640" y="9656064"/>
            <a:ext cx="17190720" cy="548640"/>
            <a:chOff x="0" y="0"/>
            <a:chExt cx="2292096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Always use a specific filter to avoid accidentally updating all documents!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A0A0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0A0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91440"/>
            <a:ext cx="16459200" cy="1554480"/>
            <a:chOff x="0" y="0"/>
            <a:chExt cx="2194560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🔴  DELETE Operations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090423"/>
            <a:ext cx="8255003" cy="793499"/>
            <a:chOff x="0" y="0"/>
            <a:chExt cx="11006671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041019"/>
                  </a:lnTo>
                  <a:cubicBezTo>
                    <a:pt x="11006582" y="1050417"/>
                    <a:pt x="10998962" y="1057910"/>
                    <a:pt x="109896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989691" y="1024128"/>
                  </a:lnTo>
                  <a:lnTo>
                    <a:pt x="10989691" y="1041019"/>
                  </a:lnTo>
                  <a:lnTo>
                    <a:pt x="10972800" y="10410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103120"/>
            <a:ext cx="8229600" cy="768096"/>
            <a:chOff x="0" y="0"/>
            <a:chExt cx="1097280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72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deleteOne()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858519"/>
            <a:ext cx="8255003" cy="3134363"/>
            <a:chOff x="0" y="0"/>
            <a:chExt cx="11006671" cy="41791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5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162171"/>
                  </a:lnTo>
                  <a:cubicBezTo>
                    <a:pt x="11006582" y="4171569"/>
                    <a:pt x="10998962" y="4179062"/>
                    <a:pt x="109896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10989691" y="4145280"/>
                  </a:lnTo>
                  <a:lnTo>
                    <a:pt x="10989691" y="4162171"/>
                  </a:lnTo>
                  <a:lnTo>
                    <a:pt x="10972800" y="4162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3097530"/>
            <a:ext cx="7589520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db.students.deleteOne(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name: "Rohan" }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db.collection.deleteOne(filter)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7063" y="2090423"/>
            <a:ext cx="8255003" cy="793499"/>
            <a:chOff x="0" y="0"/>
            <a:chExt cx="11006671" cy="1057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065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041019"/>
                  </a:lnTo>
                  <a:cubicBezTo>
                    <a:pt x="11006582" y="1050417"/>
                    <a:pt x="10998962" y="1057910"/>
                    <a:pt x="109896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989691" y="1024128"/>
                  </a:lnTo>
                  <a:lnTo>
                    <a:pt x="10989691" y="1041019"/>
                  </a:lnTo>
                  <a:lnTo>
                    <a:pt x="10972800" y="104101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09760" y="2103120"/>
            <a:ext cx="8229600" cy="768096"/>
            <a:chOff x="0" y="0"/>
            <a:chExt cx="1097280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0972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deleteMany()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97063" y="2858519"/>
            <a:ext cx="8255003" cy="3134363"/>
            <a:chOff x="0" y="0"/>
            <a:chExt cx="11006671" cy="41791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09728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065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162171"/>
                  </a:lnTo>
                  <a:cubicBezTo>
                    <a:pt x="11006582" y="4171569"/>
                    <a:pt x="10998962" y="4179062"/>
                    <a:pt x="109896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10989691" y="4145280"/>
                  </a:lnTo>
                  <a:lnTo>
                    <a:pt x="10989691" y="4162171"/>
                  </a:lnTo>
                  <a:lnTo>
                    <a:pt x="10972800" y="4162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875520" y="3097530"/>
            <a:ext cx="7589520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db.students.deleteMany(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{ age: { $lt: 21 } }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db.collection.deleteMany(filter)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35943" y="6296663"/>
            <a:ext cx="17216123" cy="3683003"/>
            <a:chOff x="0" y="0"/>
            <a:chExt cx="22954831" cy="49106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229209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2A0A0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954743" cy="4910582"/>
            </a:xfrm>
            <a:custGeom>
              <a:avLst/>
              <a:gdLst/>
              <a:ahLst/>
              <a:cxnLst/>
              <a:rect r="r" b="b" t="t" l="l"/>
              <a:pathLst>
                <a:path h="491058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4893691"/>
                  </a:lnTo>
                  <a:cubicBezTo>
                    <a:pt x="22954743" y="4903089"/>
                    <a:pt x="22947123" y="4910582"/>
                    <a:pt x="2293785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22937851" y="4876800"/>
                  </a:lnTo>
                  <a:lnTo>
                    <a:pt x="22937851" y="4893691"/>
                  </a:lnTo>
                  <a:lnTo>
                    <a:pt x="22920961" y="489369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6309360"/>
            <a:ext cx="16642080" cy="914400"/>
            <a:chOff x="0" y="0"/>
            <a:chExt cx="2218944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21894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EF53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IMPORTANT WARNINGS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7223760"/>
            <a:ext cx="16459200" cy="603504"/>
            <a:chOff x="0" y="0"/>
            <a:chExt cx="21945600" cy="8046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410" r="0" b="-48141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194560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🗑  Deletion is permanent — there is no Recycle Bin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7863840"/>
            <a:ext cx="16459200" cy="603504"/>
            <a:chOff x="0" y="0"/>
            <a:chExt cx="21945600" cy="8046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410" r="0" b="-48141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194560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🚫  MongoDB has no built-in UNDO for delete operations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" y="8503920"/>
            <a:ext cx="16459200" cy="603504"/>
            <a:chOff x="0" y="0"/>
            <a:chExt cx="21945600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410" r="0" b="-48141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194560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  Always test your filter with find() before running deleteMany()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9144000"/>
            <a:ext cx="16459200" cy="603504"/>
            <a:chOff x="0" y="0"/>
            <a:chExt cx="21945600" cy="8046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410" r="0" b="-48141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194560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💾  Consider adding a soft-delete field ( isDeleted: true ) instead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724663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91440"/>
            <a:ext cx="16459200" cy="1554480"/>
            <a:chOff x="0" y="0"/>
            <a:chExt cx="2194560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2186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🔗  Mongoose, Schema &amp; Data Modeling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090423"/>
            <a:ext cx="8346443" cy="756923"/>
            <a:chOff x="0" y="0"/>
            <a:chExt cx="11128591" cy="1009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992251"/>
                  </a:lnTo>
                  <a:cubicBezTo>
                    <a:pt x="11128501" y="1001649"/>
                    <a:pt x="11120882" y="1009142"/>
                    <a:pt x="111116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111611" y="975360"/>
                  </a:lnTo>
                  <a:lnTo>
                    <a:pt x="11111611" y="992251"/>
                  </a:lnTo>
                  <a:lnTo>
                    <a:pt x="11094720" y="9922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103120"/>
            <a:ext cx="8321040" cy="731520"/>
            <a:chOff x="0" y="0"/>
            <a:chExt cx="1109472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94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642" r="0" b="-17164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094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Mongoose Setup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821943"/>
            <a:ext cx="8346443" cy="1488443"/>
            <a:chOff x="0" y="0"/>
            <a:chExt cx="11128591" cy="19845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094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28501" cy="1984502"/>
            </a:xfrm>
            <a:custGeom>
              <a:avLst/>
              <a:gdLst/>
              <a:ahLst/>
              <a:cxnLst/>
              <a:rect r="r" b="b" t="t" l="l"/>
              <a:pathLst>
                <a:path h="19845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967611"/>
                  </a:lnTo>
                  <a:cubicBezTo>
                    <a:pt x="11128501" y="1977009"/>
                    <a:pt x="11120882" y="1984502"/>
                    <a:pt x="1111161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11111611" y="1950720"/>
                  </a:lnTo>
                  <a:lnTo>
                    <a:pt x="11111611" y="1967611"/>
                  </a:lnTo>
                  <a:lnTo>
                    <a:pt x="11094720" y="19676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2960751"/>
            <a:ext cx="768096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mongoose.connect(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"mongodb://127.0.0.1:27017/mydb"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5943" y="4559303"/>
            <a:ext cx="8346443" cy="756923"/>
            <a:chOff x="0" y="0"/>
            <a:chExt cx="11128591" cy="10092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1094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28501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992251"/>
                  </a:lnTo>
                  <a:cubicBezTo>
                    <a:pt x="11128501" y="1001649"/>
                    <a:pt x="11120882" y="1009142"/>
                    <a:pt x="111116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111611" y="975360"/>
                  </a:lnTo>
                  <a:lnTo>
                    <a:pt x="11111611" y="992251"/>
                  </a:lnTo>
                  <a:lnTo>
                    <a:pt x="11094720" y="9922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48640" y="4572000"/>
            <a:ext cx="8321040" cy="731520"/>
            <a:chOff x="0" y="0"/>
            <a:chExt cx="1109472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94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642" r="0" b="-17164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1094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 Definition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5943" y="5290823"/>
            <a:ext cx="8346443" cy="3042923"/>
            <a:chOff x="0" y="0"/>
            <a:chExt cx="11128591" cy="40572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109472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E2A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28501" cy="4057142"/>
            </a:xfrm>
            <a:custGeom>
              <a:avLst/>
              <a:gdLst/>
              <a:ahLst/>
              <a:cxnLst/>
              <a:rect r="r" b="b" t="t" l="l"/>
              <a:pathLst>
                <a:path h="40571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040251"/>
                  </a:lnTo>
                  <a:cubicBezTo>
                    <a:pt x="11128501" y="4049649"/>
                    <a:pt x="11120882" y="4057142"/>
                    <a:pt x="1111161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111611" y="4023360"/>
                  </a:lnTo>
                  <a:lnTo>
                    <a:pt x="11111611" y="4040251"/>
                  </a:lnTo>
                  <a:lnTo>
                    <a:pt x="11094720" y="40402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406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14400" y="5447919"/>
            <a:ext cx="7680960" cy="260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const schema = new mongoose.Schema({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name: String,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age: Number,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  email: String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BFA5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35943" y="8527799"/>
            <a:ext cx="8346443" cy="1214123"/>
            <a:chOff x="0" y="0"/>
            <a:chExt cx="11128591" cy="161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094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28501" cy="1618742"/>
            </a:xfrm>
            <a:custGeom>
              <a:avLst/>
              <a:gdLst/>
              <a:ahLst/>
              <a:cxnLst/>
              <a:rect r="r" b="b" t="t" l="l"/>
              <a:pathLst>
                <a:path h="16187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01851"/>
                  </a:lnTo>
                  <a:cubicBezTo>
                    <a:pt x="11128501" y="1611249"/>
                    <a:pt x="11120882" y="1618742"/>
                    <a:pt x="1111161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1111611" y="1584960"/>
                  </a:lnTo>
                  <a:lnTo>
                    <a:pt x="11111611" y="1601851"/>
                  </a:lnTo>
                  <a:lnTo>
                    <a:pt x="11094720" y="16018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31520" y="8540496"/>
            <a:ext cx="7955280" cy="1188720"/>
            <a:chOff x="0" y="0"/>
            <a:chExt cx="1060704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07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99" r="0" b="-8039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6070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Mongoose is a Node.js ODM library that provides schema validation and easy MongoDB interaction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05623" y="2090423"/>
            <a:ext cx="8346443" cy="848363"/>
            <a:chOff x="0" y="0"/>
            <a:chExt cx="11128591" cy="11311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109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285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14171"/>
                  </a:lnTo>
                  <a:cubicBezTo>
                    <a:pt x="11128501" y="1123569"/>
                    <a:pt x="11120882" y="1131062"/>
                    <a:pt x="111116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1111611" y="1097280"/>
                  </a:lnTo>
                  <a:lnTo>
                    <a:pt x="11111611" y="1114171"/>
                  </a:lnTo>
                  <a:lnTo>
                    <a:pt x="11094720" y="11141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18320" y="2103120"/>
            <a:ext cx="8321040" cy="822960"/>
            <a:chOff x="0" y="0"/>
            <a:chExt cx="1109472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09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015" r="0" b="-14701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10947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Modeling Approaches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05623" y="3004823"/>
            <a:ext cx="8346443" cy="3134363"/>
            <a:chOff x="0" y="0"/>
            <a:chExt cx="11128591" cy="41791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109472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128501" cy="4179062"/>
            </a:xfrm>
            <a:custGeom>
              <a:avLst/>
              <a:gdLst/>
              <a:ahLst/>
              <a:cxnLst/>
              <a:rect r="r" b="b" t="t" l="l"/>
              <a:pathLst>
                <a:path h="41790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162171"/>
                  </a:lnTo>
                  <a:cubicBezTo>
                    <a:pt x="11128501" y="4171569"/>
                    <a:pt x="11120882" y="4179062"/>
                    <a:pt x="1111161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11111611" y="4145280"/>
                  </a:lnTo>
                  <a:lnTo>
                    <a:pt x="11111611" y="4162171"/>
                  </a:lnTo>
                  <a:lnTo>
                    <a:pt x="11094720" y="41621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405623" y="3004823"/>
            <a:ext cx="244859" cy="3134363"/>
            <a:chOff x="0" y="0"/>
            <a:chExt cx="326479" cy="4179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292608" cy="4145280"/>
            </a:xfrm>
            <a:custGeom>
              <a:avLst/>
              <a:gdLst/>
              <a:ahLst/>
              <a:cxnLst/>
              <a:rect r="r" b="b" t="t" l="l"/>
              <a:pathLst>
                <a:path h="41452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6390" cy="4179062"/>
            </a:xfrm>
            <a:custGeom>
              <a:avLst/>
              <a:gdLst/>
              <a:ahLst/>
              <a:cxnLst/>
              <a:rect r="r" b="b" t="t" l="l"/>
              <a:pathLst>
                <a:path h="41790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4162171"/>
                  </a:lnTo>
                  <a:cubicBezTo>
                    <a:pt x="326390" y="4171569"/>
                    <a:pt x="318770" y="4179062"/>
                    <a:pt x="309499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309499" y="4145280"/>
                  </a:lnTo>
                  <a:lnTo>
                    <a:pt x="309499" y="4162171"/>
                  </a:lnTo>
                  <a:lnTo>
                    <a:pt x="292608" y="41621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784080" y="3017520"/>
            <a:ext cx="7772400" cy="768096"/>
            <a:chOff x="0" y="0"/>
            <a:chExt cx="10363200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363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0363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Embedded Documents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875520" y="3801999"/>
            <a:ext cx="749808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rPr>
              <a:t>{ name: "Rohan",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rPr>
              <a:t>  address: { city: "Delhi", pin: 110001 } }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784080" y="5120640"/>
            <a:ext cx="7680960" cy="694944"/>
            <a:chOff x="0" y="0"/>
            <a:chExt cx="1024128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241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CAF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Fast reads  |  Best for tightly-coupled data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05623" y="6388103"/>
            <a:ext cx="8346443" cy="3317243"/>
            <a:chOff x="0" y="0"/>
            <a:chExt cx="11128591" cy="44229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0947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128501" cy="4422902"/>
            </a:xfrm>
            <a:custGeom>
              <a:avLst/>
              <a:gdLst/>
              <a:ahLst/>
              <a:cxnLst/>
              <a:rect r="r" b="b" t="t" l="l"/>
              <a:pathLst>
                <a:path h="44229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406011"/>
                  </a:lnTo>
                  <a:cubicBezTo>
                    <a:pt x="11128501" y="4415409"/>
                    <a:pt x="11120882" y="4422902"/>
                    <a:pt x="1111161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1111611" y="4389120"/>
                  </a:lnTo>
                  <a:lnTo>
                    <a:pt x="11111611" y="4406011"/>
                  </a:lnTo>
                  <a:lnTo>
                    <a:pt x="11094720" y="4406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405623" y="6388103"/>
            <a:ext cx="244859" cy="3317243"/>
            <a:chOff x="0" y="0"/>
            <a:chExt cx="326479" cy="44229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92608" cy="4389120"/>
            </a:xfrm>
            <a:custGeom>
              <a:avLst/>
              <a:gdLst/>
              <a:ahLst/>
              <a:cxnLst/>
              <a:rect r="r" b="b" t="t" l="l"/>
              <a:pathLst>
                <a:path h="438912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6390" cy="4422902"/>
            </a:xfrm>
            <a:custGeom>
              <a:avLst/>
              <a:gdLst/>
              <a:ahLst/>
              <a:cxnLst/>
              <a:rect r="r" b="b" t="t" l="l"/>
              <a:pathLst>
                <a:path h="442290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4406011"/>
                  </a:lnTo>
                  <a:cubicBezTo>
                    <a:pt x="326390" y="4415409"/>
                    <a:pt x="318770" y="4422902"/>
                    <a:pt x="309499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309499" y="4389120"/>
                  </a:lnTo>
                  <a:lnTo>
                    <a:pt x="309499" y="4406011"/>
                  </a:lnTo>
                  <a:lnTo>
                    <a:pt x="292608" y="440601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784080" y="6400800"/>
            <a:ext cx="7772400" cy="768096"/>
            <a:chOff x="0" y="0"/>
            <a:chExt cx="1036320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363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0363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Referenced Documents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9875520" y="7185279"/>
            <a:ext cx="749808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rPr>
              <a:t>{ name: "Rohan",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rPr>
              <a:t>  courseId: ObjectId("abc123") }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784080" y="8503920"/>
            <a:ext cx="7680960" cy="768096"/>
            <a:chOff x="0" y="0"/>
            <a:chExt cx="1024128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0BC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Scalable  |  Best for loosely-coupled data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475737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00897B">
                <a:alpha val="117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00897B">
                <a:alpha val="5882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17703" y="583946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00BCD4">
                <a:alpha val="784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00BCD4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457200"/>
            <a:ext cx="16824960" cy="1280160"/>
            <a:chOff x="0" y="0"/>
            <a:chExt cx="2243328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2243328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Recap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633223"/>
            <a:ext cx="9169403" cy="116843"/>
            <a:chOff x="0" y="0"/>
            <a:chExt cx="12225871" cy="155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2192000" cy="121920"/>
            </a:xfrm>
            <a:custGeom>
              <a:avLst/>
              <a:gdLst/>
              <a:ahLst/>
              <a:cxnLst/>
              <a:rect r="r" b="b" t="t" l="l"/>
              <a:pathLst>
                <a:path h="1219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5782" cy="155704"/>
            </a:xfrm>
            <a:custGeom>
              <a:avLst/>
              <a:gdLst/>
              <a:ahLst/>
              <a:cxnLst/>
              <a:rect r="r" b="b" t="t" l="l"/>
              <a:pathLst>
                <a:path h="155704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38811"/>
                  </a:lnTo>
                  <a:cubicBezTo>
                    <a:pt x="12225782" y="148209"/>
                    <a:pt x="12218162" y="155702"/>
                    <a:pt x="122088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2208891" y="121920"/>
                  </a:lnTo>
                  <a:lnTo>
                    <a:pt x="12208891" y="138811"/>
                  </a:lnTo>
                  <a:lnTo>
                    <a:pt x="12192000" y="138811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998983"/>
            <a:ext cx="8346443" cy="3225803"/>
            <a:chOff x="0" y="0"/>
            <a:chExt cx="11128591" cy="4301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0947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0A1A2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28501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284091"/>
                  </a:lnTo>
                  <a:cubicBezTo>
                    <a:pt x="11128501" y="4293489"/>
                    <a:pt x="11120882" y="4300982"/>
                    <a:pt x="1111161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111611" y="4267200"/>
                  </a:lnTo>
                  <a:lnTo>
                    <a:pt x="11111611" y="4284091"/>
                  </a:lnTo>
                  <a:lnTo>
                    <a:pt x="11094720" y="42840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1998983"/>
            <a:ext cx="8346443" cy="1031243"/>
            <a:chOff x="0" y="0"/>
            <a:chExt cx="11128591" cy="137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094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897B">
                <a:alpha val="6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28501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2011680"/>
            <a:ext cx="7863840" cy="1005840"/>
            <a:chOff x="0" y="0"/>
            <a:chExt cx="1048512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485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🍃  MongoDB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3108960"/>
            <a:ext cx="7863840" cy="1920240"/>
            <a:chOff x="0" y="0"/>
            <a:chExt cx="10485120" cy="2560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5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5" r="0" b="-297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48512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NoSQL database storing flexible JSON-like documents in collections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97063" y="1998983"/>
            <a:ext cx="8346443" cy="3225803"/>
            <a:chOff x="0" y="0"/>
            <a:chExt cx="11128591" cy="43010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10947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0A1A2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28501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284091"/>
                  </a:lnTo>
                  <a:cubicBezTo>
                    <a:pt x="11128501" y="4293489"/>
                    <a:pt x="11120882" y="4300982"/>
                    <a:pt x="1111161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111611" y="4267200"/>
                  </a:lnTo>
                  <a:lnTo>
                    <a:pt x="11111611" y="4284091"/>
                  </a:lnTo>
                  <a:lnTo>
                    <a:pt x="11094720" y="42840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497063" y="1998983"/>
            <a:ext cx="8346443" cy="1031243"/>
            <a:chOff x="0" y="0"/>
            <a:chExt cx="1112859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094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D54F">
                <a:alpha val="63922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28501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84080" y="2011680"/>
            <a:ext cx="7863840" cy="1005840"/>
            <a:chOff x="0" y="0"/>
            <a:chExt cx="10485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0485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 CRUD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84080" y="3108960"/>
            <a:ext cx="7863840" cy="1920240"/>
            <a:chOff x="0" y="0"/>
            <a:chExt cx="10485120" cy="25603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85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5" r="0" b="-297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48512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four core operations: Create, Read, Update, Delete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5943" y="5565143"/>
            <a:ext cx="8346443" cy="3225803"/>
            <a:chOff x="0" y="0"/>
            <a:chExt cx="11128591" cy="43010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0947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0A1A2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28501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284091"/>
                  </a:lnTo>
                  <a:cubicBezTo>
                    <a:pt x="11128501" y="4293489"/>
                    <a:pt x="11120882" y="4300982"/>
                    <a:pt x="1111161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111611" y="4267200"/>
                  </a:lnTo>
                  <a:lnTo>
                    <a:pt x="11111611" y="4284091"/>
                  </a:lnTo>
                  <a:lnTo>
                    <a:pt x="11094720" y="42840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35943" y="5565143"/>
            <a:ext cx="8346443" cy="1031243"/>
            <a:chOff x="0" y="0"/>
            <a:chExt cx="11128591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1094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BCD4">
                <a:alpha val="6392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28501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5577840"/>
            <a:ext cx="7863840" cy="1005840"/>
            <a:chOff x="0" y="0"/>
            <a:chExt cx="1048512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0485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 Mongo Shell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6675120"/>
            <a:ext cx="7863840" cy="1920240"/>
            <a:chOff x="0" y="0"/>
            <a:chExt cx="10485120" cy="25603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85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5" r="0" b="-297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048512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Interactive shell (mongosh) where we run all DB operations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97063" y="5565143"/>
            <a:ext cx="8346443" cy="3225803"/>
            <a:chOff x="0" y="0"/>
            <a:chExt cx="11128591" cy="43010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10947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0A1A2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128501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284091"/>
                  </a:lnTo>
                  <a:cubicBezTo>
                    <a:pt x="11128501" y="4293489"/>
                    <a:pt x="11120882" y="4300982"/>
                    <a:pt x="1111161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111611" y="4267200"/>
                  </a:lnTo>
                  <a:lnTo>
                    <a:pt x="11111611" y="4284091"/>
                  </a:lnTo>
                  <a:lnTo>
                    <a:pt x="11094720" y="42840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97063" y="5565143"/>
            <a:ext cx="8346443" cy="1031243"/>
            <a:chOff x="0" y="0"/>
            <a:chExt cx="11128591" cy="13749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4CAF50">
                <a:alpha val="6392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784080" y="5577840"/>
            <a:ext cx="7863840" cy="1005840"/>
            <a:chOff x="0" y="0"/>
            <a:chExt cx="1048512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0485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🔗  Mongoose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84080" y="6675120"/>
            <a:ext cx="7863840" cy="1920240"/>
            <a:chOff x="0" y="0"/>
            <a:chExt cx="10485120" cy="25603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85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5" r="0" b="-297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048512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5E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 ODM that adds schemas and validation on top of MongoDB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-12697" y="9497063"/>
            <a:ext cx="18313403" cy="793499"/>
            <a:chOff x="0" y="0"/>
            <a:chExt cx="24417871" cy="105799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438399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4177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41019"/>
                  </a:lnTo>
                  <a:cubicBezTo>
                    <a:pt x="24417782" y="1050417"/>
                    <a:pt x="24410163" y="1057910"/>
                    <a:pt x="24400890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4400890" y="1024128"/>
                  </a:lnTo>
                  <a:lnTo>
                    <a:pt x="24400890" y="1041019"/>
                  </a:lnTo>
                  <a:lnTo>
                    <a:pt x="24384000" y="104101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0" y="9509760"/>
            <a:ext cx="18288000" cy="768096"/>
            <a:chOff x="0" y="0"/>
            <a:chExt cx="2438400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929" r="0" b="-41392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243840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you! — Questions Welcome 🙋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DAHE-QoN6Zs</dc:identifier>
  <dcterms:modified xsi:type="dcterms:W3CDTF">2011-08-01T06:04:30Z</dcterms:modified>
  <cp:revision>1</cp:revision>
  <dc:title>db.students.insertOne({ name: "Rohan", age: 20, course: "CS" })</dc:title>
</cp:coreProperties>
</file>